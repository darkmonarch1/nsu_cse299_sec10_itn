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7084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5"/>
        </a:solidFill>
        <a:effectLst/>
      </p:bgPr>
    </p:bg>
    <p:spTree>
      <p:nvGrpSpPr>
        <p:cNvPr id="1" name=""/>
        <p:cNvGrpSpPr/>
        <p:nvPr/>
      </p:nvGrpSpPr>
      <p:grpSpPr>
        <a:xfrm>
          <a:off x="0" y="0"/>
          <a:ext cx="0" cy="0"/>
          <a:chOff x="0" y="0"/>
          <a:chExt cx="0" cy="0"/>
        </a:xfrm>
      </p:grpSpPr>
      <p:sp>
        <p:nvSpPr>
          <p:cNvPr id="2" name="Shape 0"/>
          <p:cNvSpPr/>
          <p:nvPr/>
        </p:nvSpPr>
        <p:spPr>
          <a:xfrm>
            <a:off x="10332720" y="548640"/>
            <a:ext cx="2377440" cy="2377440"/>
          </a:xfrm>
          <a:prstGeom prst="ellipse">
            <a:avLst/>
          </a:prstGeom>
          <a:solidFill>
            <a:srgbClr val="0F6E7A">
              <a:alpha val="22000"/>
            </a:srgbClr>
          </a:solidFill>
          <a:ln/>
        </p:spPr>
      </p:sp>
      <p:sp>
        <p:nvSpPr>
          <p:cNvPr id="3" name="Shape 1"/>
          <p:cNvSpPr/>
          <p:nvPr/>
        </p:nvSpPr>
        <p:spPr>
          <a:xfrm>
            <a:off x="11338560" y="2377440"/>
            <a:ext cx="1280160" cy="1280160"/>
          </a:xfrm>
          <a:prstGeom prst="ellipse">
            <a:avLst/>
          </a:prstGeom>
          <a:solidFill>
            <a:srgbClr val="0F6E7A">
              <a:alpha val="22000"/>
            </a:srgbClr>
          </a:solidFill>
          <a:ln/>
        </p:spPr>
      </p:sp>
      <p:sp>
        <p:nvSpPr>
          <p:cNvPr id="4" name="Shape 2"/>
          <p:cNvSpPr/>
          <p:nvPr/>
        </p:nvSpPr>
        <p:spPr>
          <a:xfrm>
            <a:off x="-365760" y="2926080"/>
            <a:ext cx="1463040" cy="1463040"/>
          </a:xfrm>
          <a:prstGeom prst="ellipse">
            <a:avLst/>
          </a:prstGeom>
          <a:solidFill>
            <a:srgbClr val="0F6E7A">
              <a:alpha val="22000"/>
            </a:srgbClr>
          </a:solidFill>
          <a:ln/>
        </p:spPr>
      </p:sp>
      <p:sp>
        <p:nvSpPr>
          <p:cNvPr id="5" name="Shape 3"/>
          <p:cNvSpPr/>
          <p:nvPr/>
        </p:nvSpPr>
        <p:spPr>
          <a:xfrm>
            <a:off x="274320" y="5212080"/>
            <a:ext cx="1645920" cy="1645920"/>
          </a:xfrm>
          <a:prstGeom prst="ellipse">
            <a:avLst/>
          </a:prstGeom>
          <a:solidFill>
            <a:srgbClr val="0F6E7A">
              <a:alpha val="22000"/>
            </a:srgbClr>
          </a:solidFill>
          <a:ln/>
        </p:spPr>
      </p:sp>
      <p:sp>
        <p:nvSpPr>
          <p:cNvPr id="6" name="Shape 4"/>
          <p:cNvSpPr/>
          <p:nvPr/>
        </p:nvSpPr>
        <p:spPr>
          <a:xfrm>
            <a:off x="548640" y="502920"/>
            <a:ext cx="566928" cy="566928"/>
          </a:xfrm>
          <a:prstGeom prst="ellipse">
            <a:avLst/>
          </a:prstGeom>
          <a:solidFill>
            <a:srgbClr val="E8A33D"/>
          </a:solidFill>
          <a:ln/>
        </p:spPr>
      </p:sp>
      <p:pic>
        <p:nvPicPr>
          <p:cNvPr id="7" name="Image 0" descr="/home/claude/sprint3/icons/windowMax.png"/>
          <p:cNvPicPr>
            <a:picLocks noChangeAspect="1"/>
          </p:cNvPicPr>
          <p:nvPr/>
        </p:nvPicPr>
        <p:blipFill>
          <a:blip r:embed="rId3"/>
          <a:stretch>
            <a:fillRect/>
          </a:stretch>
        </p:blipFill>
        <p:spPr>
          <a:xfrm>
            <a:off x="690372" y="644652"/>
            <a:ext cx="283464" cy="283464"/>
          </a:xfrm>
          <a:prstGeom prst="rect">
            <a:avLst/>
          </a:prstGeom>
        </p:spPr>
      </p:pic>
      <p:sp>
        <p:nvSpPr>
          <p:cNvPr id="8" name="Text 5"/>
          <p:cNvSpPr/>
          <p:nvPr/>
        </p:nvSpPr>
        <p:spPr>
          <a:xfrm>
            <a:off x="548640" y="1234440"/>
            <a:ext cx="9144000" cy="320040"/>
          </a:xfrm>
          <a:prstGeom prst="rect">
            <a:avLst/>
          </a:prstGeom>
          <a:noFill/>
          <a:ln/>
        </p:spPr>
        <p:txBody>
          <a:bodyPr wrap="square" lIns="0" tIns="0" rIns="0" bIns="0" rtlCol="0" anchor="ctr"/>
          <a:lstStyle/>
          <a:p>
            <a:pPr marL="0" indent="0">
              <a:buNone/>
            </a:pPr>
            <a:r>
              <a:rPr lang="en-US" sz="1250" b="1" kern="0" spc="200" dirty="0">
                <a:solidFill>
                  <a:srgbClr val="E8A33D"/>
                </a:solidFill>
                <a:latin typeface="Calibri" pitchFamily="34" charset="0"/>
                <a:ea typeface="Calibri" pitchFamily="34" charset="-122"/>
                <a:cs typeface="Calibri" pitchFamily="34" charset="-120"/>
              </a:rPr>
              <a:t>CSE299  ·  SECTION 10  ·  TEAM NEXUS</a:t>
            </a:r>
            <a:endParaRPr lang="en-US" sz="1250" dirty="0"/>
          </a:p>
        </p:txBody>
      </p:sp>
      <p:sp>
        <p:nvSpPr>
          <p:cNvPr id="9" name="Text 6"/>
          <p:cNvSpPr/>
          <p:nvPr/>
        </p:nvSpPr>
        <p:spPr>
          <a:xfrm>
            <a:off x="502920" y="1600200"/>
            <a:ext cx="10972800" cy="118872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Sprint 3 Weekly Project Review</a:t>
            </a:r>
            <a:endParaRPr lang="en-US" sz="4400" dirty="0"/>
          </a:p>
        </p:txBody>
      </p:sp>
      <p:sp>
        <p:nvSpPr>
          <p:cNvPr id="10" name="Text 7"/>
          <p:cNvSpPr/>
          <p:nvPr/>
        </p:nvSpPr>
        <p:spPr>
          <a:xfrm>
            <a:off x="548640" y="2606040"/>
            <a:ext cx="10058400" cy="502920"/>
          </a:xfrm>
          <a:prstGeom prst="rect">
            <a:avLst/>
          </a:prstGeom>
          <a:noFill/>
          <a:ln/>
        </p:spPr>
        <p:txBody>
          <a:bodyPr wrap="square" lIns="0" tIns="0" rIns="0" bIns="0" rtlCol="0" anchor="ctr"/>
          <a:lstStyle/>
          <a:p>
            <a:pPr marL="0" indent="0">
              <a:buNone/>
            </a:pPr>
            <a:r>
              <a:rPr lang="en-US" sz="1800" dirty="0">
                <a:solidFill>
                  <a:srgbClr val="B9D6D9"/>
                </a:solidFill>
                <a:latin typeface="Calibri" pitchFamily="34" charset="0"/>
                <a:ea typeface="Calibri" pitchFamily="34" charset="-122"/>
                <a:cs typeface="Calibri" pitchFamily="34" charset="-120"/>
              </a:rPr>
              <a:t>A Full Front-End Product, Live and Running</a:t>
            </a:r>
            <a:endParaRPr lang="en-US" sz="1800" dirty="0"/>
          </a:p>
        </p:txBody>
      </p:sp>
      <p:sp>
        <p:nvSpPr>
          <p:cNvPr id="11" name="Shape 8"/>
          <p:cNvSpPr/>
          <p:nvPr/>
        </p:nvSpPr>
        <p:spPr>
          <a:xfrm>
            <a:off x="548640" y="3520440"/>
            <a:ext cx="11064240" cy="2651760"/>
          </a:xfrm>
          <a:prstGeom prst="roundRect">
            <a:avLst>
              <a:gd name="adj" fmla="val 2759"/>
            </a:avLst>
          </a:prstGeom>
          <a:solidFill>
            <a:srgbClr val="0E4C57"/>
          </a:solidFill>
          <a:ln w="12700">
            <a:solidFill>
              <a:srgbClr val="0F6E7A"/>
            </a:solidFill>
            <a:prstDash val="solid"/>
          </a:ln>
        </p:spPr>
      </p:sp>
      <p:sp>
        <p:nvSpPr>
          <p:cNvPr id="12" name="Text 9"/>
          <p:cNvSpPr/>
          <p:nvPr/>
        </p:nvSpPr>
        <p:spPr>
          <a:xfrm>
            <a:off x="868680" y="3703320"/>
            <a:ext cx="5486400" cy="274320"/>
          </a:xfrm>
          <a:prstGeom prst="rect">
            <a:avLst/>
          </a:prstGeom>
          <a:noFill/>
          <a:ln/>
        </p:spPr>
        <p:txBody>
          <a:bodyPr wrap="square" lIns="0" tIns="0" rIns="0" bIns="0" rtlCol="0" anchor="ctr"/>
          <a:lstStyle/>
          <a:p>
            <a:pPr marL="0" indent="0">
              <a:buNone/>
            </a:pPr>
            <a:r>
              <a:rPr lang="en-US" sz="1050" b="1" kern="0" spc="150" dirty="0">
                <a:solidFill>
                  <a:srgbClr val="E8A33D"/>
                </a:solidFill>
                <a:latin typeface="Calibri" pitchFamily="34" charset="0"/>
                <a:ea typeface="Calibri" pitchFamily="34" charset="-122"/>
                <a:cs typeface="Calibri" pitchFamily="34" charset="-120"/>
              </a:rPr>
              <a:t>SPRINT SNAPSHOT</a:t>
            </a:r>
            <a:endParaRPr lang="en-US" sz="1050" dirty="0"/>
          </a:p>
        </p:txBody>
      </p:sp>
      <p:sp>
        <p:nvSpPr>
          <p:cNvPr id="13" name="Text 10"/>
          <p:cNvSpPr/>
          <p:nvPr/>
        </p:nvSpPr>
        <p:spPr>
          <a:xfrm>
            <a:off x="868680" y="3977640"/>
            <a:ext cx="10332720" cy="3200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Window: July 21 – Aug 3, 2026     |     Status: Completed · 100%     |     Priority: Medium     |     Duration: 2 weeks</a:t>
            </a:r>
            <a:endParaRPr lang="en-US" sz="1250" dirty="0"/>
          </a:p>
        </p:txBody>
      </p:sp>
      <p:sp>
        <p:nvSpPr>
          <p:cNvPr id="14" name="Shape 11"/>
          <p:cNvSpPr/>
          <p:nvPr/>
        </p:nvSpPr>
        <p:spPr>
          <a:xfrm>
            <a:off x="868680" y="4480560"/>
            <a:ext cx="10424160" cy="0"/>
          </a:xfrm>
          <a:prstGeom prst="line">
            <a:avLst/>
          </a:prstGeom>
          <a:noFill/>
          <a:ln w="9525">
            <a:solidFill>
              <a:srgbClr val="0F6E7A">
                <a:alpha val="60000"/>
              </a:srgbClr>
            </a:solidFill>
            <a:prstDash val="solid"/>
          </a:ln>
        </p:spPr>
      </p:sp>
      <p:sp>
        <p:nvSpPr>
          <p:cNvPr id="15" name="Shape 12"/>
          <p:cNvSpPr/>
          <p:nvPr/>
        </p:nvSpPr>
        <p:spPr>
          <a:xfrm>
            <a:off x="868680" y="4764024"/>
            <a:ext cx="91440" cy="91440"/>
          </a:xfrm>
          <a:prstGeom prst="ellipse">
            <a:avLst/>
          </a:prstGeom>
          <a:solidFill>
            <a:srgbClr val="E8A33D"/>
          </a:solidFill>
          <a:ln/>
        </p:spPr>
      </p:sp>
      <p:sp>
        <p:nvSpPr>
          <p:cNvPr id="16" name="Text 13"/>
          <p:cNvSpPr/>
          <p:nvPr/>
        </p:nvSpPr>
        <p:spPr>
          <a:xfrm>
            <a:off x="1097280" y="4636008"/>
            <a:ext cx="9875520" cy="566928"/>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Jihanur Rahman Ratul - 2412800642</a:t>
            </a:r>
            <a:endParaRPr lang="en-US" sz="1350" dirty="0"/>
          </a:p>
          <a:p>
            <a:pPr marL="0" indent="0">
              <a:lnSpc>
                <a:spcPct val="115000"/>
              </a:lnSpc>
              <a:buNone/>
            </a:pPr>
            <a:r>
              <a:rPr lang="en-US" sz="1100" i="1" dirty="0">
                <a:solidFill>
                  <a:srgbClr val="B9D6D9"/>
                </a:solidFill>
                <a:latin typeface="Calibri" pitchFamily="34" charset="0"/>
                <a:ea typeface="Calibri" pitchFamily="34" charset="-122"/>
                <a:cs typeface="Calibri" pitchFamily="34" charset="-120"/>
              </a:rPr>
              <a:t>Team Lead — Frontend, Repository &amp; DevOps</a:t>
            </a:r>
            <a:endParaRPr lang="en-US" sz="1350" dirty="0"/>
          </a:p>
        </p:txBody>
      </p:sp>
      <p:sp>
        <p:nvSpPr>
          <p:cNvPr id="17" name="Shape 14"/>
          <p:cNvSpPr/>
          <p:nvPr/>
        </p:nvSpPr>
        <p:spPr>
          <a:xfrm>
            <a:off x="868680" y="5422392"/>
            <a:ext cx="91440" cy="91440"/>
          </a:xfrm>
          <a:prstGeom prst="ellipse">
            <a:avLst/>
          </a:prstGeom>
          <a:solidFill>
            <a:srgbClr val="E8A33D"/>
          </a:solidFill>
          <a:ln/>
        </p:spPr>
      </p:sp>
      <p:sp>
        <p:nvSpPr>
          <p:cNvPr id="18" name="Text 15"/>
          <p:cNvSpPr/>
          <p:nvPr/>
        </p:nvSpPr>
        <p:spPr>
          <a:xfrm>
            <a:off x="1097280" y="5294376"/>
            <a:ext cx="9875520" cy="566928"/>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Tahsin Ahmed Sufol</a:t>
            </a:r>
            <a:endParaRPr lang="en-US" sz="1350" dirty="0"/>
          </a:p>
          <a:p>
            <a:pPr marL="0" indent="0">
              <a:lnSpc>
                <a:spcPct val="115000"/>
              </a:lnSpc>
              <a:buNone/>
            </a:pPr>
            <a:r>
              <a:rPr lang="en-US" sz="1100" i="1" dirty="0">
                <a:solidFill>
                  <a:srgbClr val="B9D6D9"/>
                </a:solidFill>
                <a:latin typeface="Calibri" pitchFamily="34" charset="0"/>
                <a:ea typeface="Calibri" pitchFamily="34" charset="-122"/>
                <a:cs typeface="Calibri" pitchFamily="34" charset="-120"/>
              </a:rPr>
              <a:t>Backend Review &amp; Integration Planning</a:t>
            </a:r>
            <a:endParaRPr lang="en-US" sz="1350" dirty="0"/>
          </a:p>
        </p:txBody>
      </p:sp>
      <p:sp>
        <p:nvSpPr>
          <p:cNvPr id="19" name="Text 16"/>
          <p:cNvSpPr/>
          <p:nvPr/>
        </p:nvSpPr>
        <p:spPr>
          <a:xfrm>
            <a:off x="548640" y="6492240"/>
            <a:ext cx="10515600" cy="274320"/>
          </a:xfrm>
          <a:prstGeom prst="rect">
            <a:avLst/>
          </a:prstGeom>
          <a:noFill/>
          <a:ln/>
        </p:spPr>
        <p:txBody>
          <a:bodyPr wrap="square" lIns="0" tIns="0" rIns="0" bIns="0" rtlCol="0" anchor="ctr"/>
          <a:lstStyle/>
          <a:p>
            <a:pPr marL="0" indent="0">
              <a:buNone/>
            </a:pPr>
            <a:r>
              <a:rPr lang="en-US" sz="950" i="1" dirty="0">
                <a:solidFill>
                  <a:srgbClr val="5C8A8F"/>
                </a:solidFill>
                <a:latin typeface="Calibri" pitchFamily="34" charset="0"/>
                <a:ea typeface="Calibri" pitchFamily="34" charset="-122"/>
                <a:cs typeface="Calibri" pitchFamily="34" charset="-120"/>
              </a:rPr>
              <a:t>Prepared for ITN Sir  ·  CareerSetu — NSU Alumni-Industry Bridge Platform</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02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PROJECT OVERVIEW</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CareerSetu, at a Glance</a:t>
            </a:r>
            <a:endParaRPr lang="en-US" sz="2800" dirty="0"/>
          </a:p>
        </p:txBody>
      </p:sp>
      <p:sp>
        <p:nvSpPr>
          <p:cNvPr id="6" name="Text 4"/>
          <p:cNvSpPr/>
          <p:nvPr/>
        </p:nvSpPr>
        <p:spPr>
          <a:xfrm>
            <a:off x="502920" y="1691640"/>
            <a:ext cx="5943600" cy="4206240"/>
          </a:xfrm>
          <a:prstGeom prst="rect">
            <a:avLst/>
          </a:prstGeom>
          <a:noFill/>
          <a:ln/>
        </p:spPr>
        <p:txBody>
          <a:bodyPr wrap="square" lIns="0" tIns="0" rIns="0" bIns="0" rtlCol="0" anchor="t"/>
          <a:lstStyle/>
          <a:p>
            <a:pPr marL="177800" indent="-177800">
              <a:lnSpc>
                <a:spcPct val="128000"/>
              </a:lnSpc>
              <a:spcAft>
                <a:spcPts val="1600"/>
              </a:spcAft>
              <a:buSzPct val="100000"/>
              <a:buChar char="▪"/>
            </a:pPr>
            <a:r>
              <a:rPr lang="en-US" sz="1350" dirty="0">
                <a:solidFill>
                  <a:srgbClr val="1C2B2D"/>
                </a:solidFill>
                <a:latin typeface="Calibri" pitchFamily="34" charset="0"/>
                <a:ea typeface="Calibri" pitchFamily="34" charset="-122"/>
                <a:cs typeface="Calibri" pitchFamily="34" charset="-120"/>
              </a:rPr>
              <a:t>Three sprints in, CareerSetu now has a real, running product: a 10-page Next.js frontend covering every pillar from the proposal.</a:t>
            </a:r>
            <a:endParaRPr lang="en-US" sz="1350" dirty="0"/>
          </a:p>
          <a:p>
            <a:pPr marL="177800" indent="-177800">
              <a:lnSpc>
                <a:spcPct val="128000"/>
              </a:lnSpc>
              <a:spcAft>
                <a:spcPts val="1600"/>
              </a:spcAft>
              <a:buSzPct val="100000"/>
              <a:buChar char="▪"/>
            </a:pPr>
            <a:r>
              <a:rPr lang="en-US" sz="1350" dirty="0">
                <a:solidFill>
                  <a:srgbClr val="1C2B2D"/>
                </a:solidFill>
                <a:latin typeface="Calibri" pitchFamily="34" charset="0"/>
                <a:ea typeface="Calibri" pitchFamily="34" charset="-122"/>
                <a:cs typeface="Calibri" pitchFamily="34" charset="-120"/>
              </a:rPr>
              <a:t>AI CV grooming, a verified job board, blockchain-verified credentials, and the Career Magazine are all live on localhost — not mockups, working screens.</a:t>
            </a:r>
            <a:endParaRPr lang="en-US" sz="1350" dirty="0"/>
          </a:p>
          <a:p>
            <a:pPr marL="177800" indent="-177800">
              <a:lnSpc>
                <a:spcPct val="128000"/>
              </a:lnSpc>
              <a:spcAft>
                <a:spcPts val="1600"/>
              </a:spcAft>
              <a:buSzPct val="100000"/>
              <a:buChar char="▪"/>
            </a:pPr>
            <a:r>
              <a:rPr lang="en-US" sz="1350" dirty="0">
                <a:solidFill>
                  <a:srgbClr val="1C2B2D"/>
                </a:solidFill>
                <a:latin typeface="Calibri" pitchFamily="34" charset="0"/>
                <a:ea typeface="Calibri" pitchFamily="34" charset="-122"/>
                <a:cs typeface="Calibri" pitchFamily="34" charset="-120"/>
              </a:rPr>
              <a:t>This report covers Sprint 3 (July 21 – Aug 3) and previews Sprint 4, now underway.</a:t>
            </a:r>
            <a:endParaRPr lang="en-US" sz="1350" dirty="0"/>
          </a:p>
        </p:txBody>
      </p:sp>
      <p:sp>
        <p:nvSpPr>
          <p:cNvPr id="7" name="Shape 5"/>
          <p:cNvSpPr/>
          <p:nvPr/>
        </p:nvSpPr>
        <p:spPr>
          <a:xfrm>
            <a:off x="6766560" y="1600200"/>
            <a:ext cx="4892040" cy="4572000"/>
          </a:xfrm>
          <a:prstGeom prst="roundRect">
            <a:avLst>
              <a:gd name="adj" fmla="val 2000"/>
            </a:avLst>
          </a:prstGeom>
          <a:solidFill>
            <a:srgbClr val="E8F3F4"/>
          </a:solidFill>
          <a:ln w="12700">
            <a:solidFill>
              <a:srgbClr val="E8F3F4"/>
            </a:solidFill>
            <a:prstDash val="solid"/>
          </a:ln>
          <a:effectLst>
            <a:outerShdw blurRad="88900" dist="25400" dir="5400000" algn="bl" rotWithShape="0">
              <a:srgbClr val="1C2B2D">
                <a:alpha val="10000"/>
              </a:srgbClr>
            </a:outerShdw>
          </a:effectLst>
        </p:spPr>
      </p:sp>
      <p:sp>
        <p:nvSpPr>
          <p:cNvPr id="8" name="Text 6"/>
          <p:cNvSpPr/>
          <p:nvPr/>
        </p:nvSpPr>
        <p:spPr>
          <a:xfrm>
            <a:off x="7040880" y="1773936"/>
            <a:ext cx="4343400" cy="274320"/>
          </a:xfrm>
          <a:prstGeom prst="rect">
            <a:avLst/>
          </a:prstGeom>
          <a:noFill/>
          <a:ln/>
        </p:spPr>
        <p:txBody>
          <a:bodyPr wrap="square" lIns="0" tIns="0" rIns="0" bIns="0" rtlCol="0" anchor="ctr"/>
          <a:lstStyle/>
          <a:p>
            <a:pPr marL="0" indent="0">
              <a:buNone/>
            </a:pPr>
            <a:r>
              <a:rPr lang="en-US" sz="1050" b="1" kern="0" spc="150" dirty="0">
                <a:solidFill>
                  <a:srgbClr val="0F6E7A"/>
                </a:solidFill>
                <a:latin typeface="Calibri" pitchFamily="34" charset="0"/>
                <a:ea typeface="Calibri" pitchFamily="34" charset="-122"/>
                <a:cs typeface="Calibri" pitchFamily="34" charset="-120"/>
              </a:rPr>
              <a:t>SPRINT-BY-SPRINT STATUS</a:t>
            </a:r>
            <a:endParaRPr lang="en-US" sz="1050" dirty="0"/>
          </a:p>
        </p:txBody>
      </p:sp>
      <p:sp>
        <p:nvSpPr>
          <p:cNvPr id="9" name="Text 7"/>
          <p:cNvSpPr/>
          <p:nvPr/>
        </p:nvSpPr>
        <p:spPr>
          <a:xfrm>
            <a:off x="7040880" y="2148840"/>
            <a:ext cx="1554480" cy="256032"/>
          </a:xfrm>
          <a:prstGeom prst="rect">
            <a:avLst/>
          </a:prstGeom>
          <a:noFill/>
          <a:ln/>
        </p:spPr>
        <p:txBody>
          <a:bodyPr wrap="square" lIns="0" tIns="0" rIns="0" bIns="0" rtlCol="0" anchor="ctr"/>
          <a:lstStyle/>
          <a:p>
            <a:pPr marL="0" indent="0">
              <a:buNone/>
            </a:pPr>
            <a:r>
              <a:rPr lang="en-US" sz="1300" b="1" dirty="0">
                <a:solidFill>
                  <a:srgbClr val="1C2B2D"/>
                </a:solidFill>
                <a:latin typeface="Calibri" pitchFamily="34" charset="0"/>
                <a:ea typeface="Calibri" pitchFamily="34" charset="-122"/>
                <a:cs typeface="Calibri" pitchFamily="34" charset="-120"/>
              </a:rPr>
              <a:t>Sprint 1</a:t>
            </a:r>
            <a:endParaRPr lang="en-US" sz="1300" dirty="0"/>
          </a:p>
        </p:txBody>
      </p:sp>
      <p:sp>
        <p:nvSpPr>
          <p:cNvPr id="10" name="Text 8"/>
          <p:cNvSpPr/>
          <p:nvPr/>
        </p:nvSpPr>
        <p:spPr>
          <a:xfrm>
            <a:off x="7040880" y="2395728"/>
            <a:ext cx="1554480" cy="219456"/>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Jul 6 – 13</a:t>
            </a:r>
            <a:endParaRPr lang="en-US" sz="900" dirty="0"/>
          </a:p>
        </p:txBody>
      </p:sp>
      <p:sp>
        <p:nvSpPr>
          <p:cNvPr id="11" name="Shape 9"/>
          <p:cNvSpPr/>
          <p:nvPr/>
        </p:nvSpPr>
        <p:spPr>
          <a:xfrm>
            <a:off x="10369296" y="2157984"/>
            <a:ext cx="1014984" cy="256032"/>
          </a:xfrm>
          <a:prstGeom prst="roundRect">
            <a:avLst>
              <a:gd name="adj" fmla="val 21429"/>
            </a:avLst>
          </a:prstGeom>
          <a:solidFill>
            <a:srgbClr val="FFFFFF"/>
          </a:solidFill>
          <a:ln w="9525">
            <a:solidFill>
              <a:srgbClr val="2E9E97"/>
            </a:solidFill>
            <a:prstDash val="solid"/>
          </a:ln>
        </p:spPr>
      </p:sp>
      <p:sp>
        <p:nvSpPr>
          <p:cNvPr id="12" name="Text 10"/>
          <p:cNvSpPr/>
          <p:nvPr/>
        </p:nvSpPr>
        <p:spPr>
          <a:xfrm>
            <a:off x="10369296" y="2157984"/>
            <a:ext cx="1014984" cy="256032"/>
          </a:xfrm>
          <a:prstGeom prst="rect">
            <a:avLst/>
          </a:prstGeom>
          <a:noFill/>
          <a:ln/>
        </p:spPr>
        <p:txBody>
          <a:bodyPr wrap="square" lIns="0" tIns="0" rIns="0" bIns="0" rtlCol="0" anchor="ctr"/>
          <a:lstStyle/>
          <a:p>
            <a:pPr marL="0" indent="0" algn="ctr">
              <a:buNone/>
            </a:pPr>
            <a:r>
              <a:rPr lang="en-US" sz="900" b="1" dirty="0">
                <a:solidFill>
                  <a:srgbClr val="2E9E97"/>
                </a:solidFill>
                <a:latin typeface="Calibri" pitchFamily="34" charset="0"/>
                <a:ea typeface="Calibri" pitchFamily="34" charset="-122"/>
                <a:cs typeface="Calibri" pitchFamily="34" charset="-120"/>
              </a:rPr>
              <a:t>Completed</a:t>
            </a:r>
            <a:endParaRPr lang="en-US" sz="900" dirty="0"/>
          </a:p>
        </p:txBody>
      </p:sp>
      <p:sp>
        <p:nvSpPr>
          <p:cNvPr id="13" name="Text 11"/>
          <p:cNvSpPr/>
          <p:nvPr/>
        </p:nvSpPr>
        <p:spPr>
          <a:xfrm>
            <a:off x="8686800" y="2121408"/>
            <a:ext cx="914400" cy="457200"/>
          </a:xfrm>
          <a:prstGeom prst="rect">
            <a:avLst/>
          </a:prstGeom>
          <a:noFill/>
          <a:ln/>
        </p:spPr>
        <p:txBody>
          <a:bodyPr wrap="square" lIns="0" tIns="0" rIns="0" bIns="0" rtlCol="0" anchor="ctr"/>
          <a:lstStyle/>
          <a:p>
            <a:pPr marL="0" indent="0">
              <a:buNone/>
            </a:pPr>
            <a:r>
              <a:rPr lang="en-US" sz="2000" b="1" dirty="0">
                <a:solidFill>
                  <a:srgbClr val="2E9E97"/>
                </a:solidFill>
                <a:latin typeface="Cambria" pitchFamily="34" charset="0"/>
                <a:ea typeface="Cambria" pitchFamily="34" charset="-122"/>
                <a:cs typeface="Cambria" pitchFamily="34" charset="-120"/>
              </a:rPr>
              <a:t>100%</a:t>
            </a:r>
            <a:endParaRPr lang="en-US" sz="2000" dirty="0"/>
          </a:p>
        </p:txBody>
      </p:sp>
      <p:sp>
        <p:nvSpPr>
          <p:cNvPr id="14" name="Text 12"/>
          <p:cNvSpPr/>
          <p:nvPr/>
        </p:nvSpPr>
        <p:spPr>
          <a:xfrm>
            <a:off x="7040880" y="2651760"/>
            <a:ext cx="4343400" cy="310896"/>
          </a:xfrm>
          <a:prstGeom prst="rect">
            <a:avLst/>
          </a:prstGeom>
          <a:noFill/>
          <a:ln/>
        </p:spPr>
        <p:txBody>
          <a:bodyPr wrap="square" lIns="0" tIns="0" rIns="0" bIns="0" rtlCol="0" anchor="ctr"/>
          <a:lstStyle/>
          <a:p>
            <a:pPr marL="0" indent="0">
              <a:lnSpc>
                <a:spcPct val="110000"/>
              </a:lnSpc>
              <a:buNone/>
            </a:pPr>
            <a:r>
              <a:rPr lang="en-US" sz="930" i="1" dirty="0">
                <a:solidFill>
                  <a:srgbClr val="5C6B6D"/>
                </a:solidFill>
                <a:latin typeface="Calibri" pitchFamily="34" charset="0"/>
                <a:ea typeface="Calibri" pitchFamily="34" charset="-122"/>
                <a:cs typeface="Calibri" pitchFamily="34" charset="-120"/>
              </a:rPr>
              <a:t>Data collection: NSU alumni &amp; company datasets</a:t>
            </a:r>
            <a:endParaRPr lang="en-US" sz="930" dirty="0"/>
          </a:p>
        </p:txBody>
      </p:sp>
      <p:sp>
        <p:nvSpPr>
          <p:cNvPr id="15" name="Text 13"/>
          <p:cNvSpPr/>
          <p:nvPr/>
        </p:nvSpPr>
        <p:spPr>
          <a:xfrm>
            <a:off x="7040880" y="3108960"/>
            <a:ext cx="1554480" cy="256032"/>
          </a:xfrm>
          <a:prstGeom prst="rect">
            <a:avLst/>
          </a:prstGeom>
          <a:noFill/>
          <a:ln/>
        </p:spPr>
        <p:txBody>
          <a:bodyPr wrap="square" lIns="0" tIns="0" rIns="0" bIns="0" rtlCol="0" anchor="ctr"/>
          <a:lstStyle/>
          <a:p>
            <a:pPr marL="0" indent="0">
              <a:buNone/>
            </a:pPr>
            <a:r>
              <a:rPr lang="en-US" sz="1300" b="1" dirty="0">
                <a:solidFill>
                  <a:srgbClr val="1C2B2D"/>
                </a:solidFill>
                <a:latin typeface="Calibri" pitchFamily="34" charset="0"/>
                <a:ea typeface="Calibri" pitchFamily="34" charset="-122"/>
                <a:cs typeface="Calibri" pitchFamily="34" charset="-120"/>
              </a:rPr>
              <a:t>Sprint 2</a:t>
            </a:r>
            <a:endParaRPr lang="en-US" sz="1300" dirty="0"/>
          </a:p>
        </p:txBody>
      </p:sp>
      <p:sp>
        <p:nvSpPr>
          <p:cNvPr id="16" name="Text 14"/>
          <p:cNvSpPr/>
          <p:nvPr/>
        </p:nvSpPr>
        <p:spPr>
          <a:xfrm>
            <a:off x="7040880" y="3355848"/>
            <a:ext cx="1554480" cy="219456"/>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Jul 13 – 21</a:t>
            </a:r>
            <a:endParaRPr lang="en-US" sz="900" dirty="0"/>
          </a:p>
        </p:txBody>
      </p:sp>
      <p:sp>
        <p:nvSpPr>
          <p:cNvPr id="17" name="Shape 15"/>
          <p:cNvSpPr/>
          <p:nvPr/>
        </p:nvSpPr>
        <p:spPr>
          <a:xfrm>
            <a:off x="10369296" y="3118104"/>
            <a:ext cx="1014984" cy="256032"/>
          </a:xfrm>
          <a:prstGeom prst="roundRect">
            <a:avLst>
              <a:gd name="adj" fmla="val 21429"/>
            </a:avLst>
          </a:prstGeom>
          <a:solidFill>
            <a:srgbClr val="FFFFFF"/>
          </a:solidFill>
          <a:ln w="9525">
            <a:solidFill>
              <a:srgbClr val="2E9E97"/>
            </a:solidFill>
            <a:prstDash val="solid"/>
          </a:ln>
        </p:spPr>
      </p:sp>
      <p:sp>
        <p:nvSpPr>
          <p:cNvPr id="18" name="Text 16"/>
          <p:cNvSpPr/>
          <p:nvPr/>
        </p:nvSpPr>
        <p:spPr>
          <a:xfrm>
            <a:off x="10369296" y="3118104"/>
            <a:ext cx="1014984" cy="256032"/>
          </a:xfrm>
          <a:prstGeom prst="rect">
            <a:avLst/>
          </a:prstGeom>
          <a:noFill/>
          <a:ln/>
        </p:spPr>
        <p:txBody>
          <a:bodyPr wrap="square" lIns="0" tIns="0" rIns="0" bIns="0" rtlCol="0" anchor="ctr"/>
          <a:lstStyle/>
          <a:p>
            <a:pPr marL="0" indent="0" algn="ctr">
              <a:buNone/>
            </a:pPr>
            <a:r>
              <a:rPr lang="en-US" sz="900" b="1" dirty="0">
                <a:solidFill>
                  <a:srgbClr val="2E9E97"/>
                </a:solidFill>
                <a:latin typeface="Calibri" pitchFamily="34" charset="0"/>
                <a:ea typeface="Calibri" pitchFamily="34" charset="-122"/>
                <a:cs typeface="Calibri" pitchFamily="34" charset="-120"/>
              </a:rPr>
              <a:t>Completed</a:t>
            </a:r>
            <a:endParaRPr lang="en-US" sz="900" dirty="0"/>
          </a:p>
        </p:txBody>
      </p:sp>
      <p:sp>
        <p:nvSpPr>
          <p:cNvPr id="19" name="Text 17"/>
          <p:cNvSpPr/>
          <p:nvPr/>
        </p:nvSpPr>
        <p:spPr>
          <a:xfrm>
            <a:off x="8686800" y="3081528"/>
            <a:ext cx="914400" cy="457200"/>
          </a:xfrm>
          <a:prstGeom prst="rect">
            <a:avLst/>
          </a:prstGeom>
          <a:noFill/>
          <a:ln/>
        </p:spPr>
        <p:txBody>
          <a:bodyPr wrap="square" lIns="0" tIns="0" rIns="0" bIns="0" rtlCol="0" anchor="ctr"/>
          <a:lstStyle/>
          <a:p>
            <a:pPr marL="0" indent="0">
              <a:buNone/>
            </a:pPr>
            <a:r>
              <a:rPr lang="en-US" sz="2000" b="1" dirty="0">
                <a:solidFill>
                  <a:srgbClr val="2E9E97"/>
                </a:solidFill>
                <a:latin typeface="Cambria" pitchFamily="34" charset="0"/>
                <a:ea typeface="Cambria" pitchFamily="34" charset="-122"/>
                <a:cs typeface="Cambria" pitchFamily="34" charset="-120"/>
              </a:rPr>
              <a:t>100%</a:t>
            </a:r>
            <a:endParaRPr lang="en-US" sz="2000" dirty="0"/>
          </a:p>
        </p:txBody>
      </p:sp>
      <p:sp>
        <p:nvSpPr>
          <p:cNvPr id="20" name="Text 18"/>
          <p:cNvSpPr/>
          <p:nvPr/>
        </p:nvSpPr>
        <p:spPr>
          <a:xfrm>
            <a:off x="7040880" y="3611880"/>
            <a:ext cx="4343400" cy="310896"/>
          </a:xfrm>
          <a:prstGeom prst="rect">
            <a:avLst/>
          </a:prstGeom>
          <a:noFill/>
          <a:ln/>
        </p:spPr>
        <p:txBody>
          <a:bodyPr wrap="square" lIns="0" tIns="0" rIns="0" bIns="0" rtlCol="0" anchor="ctr"/>
          <a:lstStyle/>
          <a:p>
            <a:pPr marL="0" indent="0">
              <a:lnSpc>
                <a:spcPct val="110000"/>
              </a:lnSpc>
              <a:buNone/>
            </a:pPr>
            <a:r>
              <a:rPr lang="en-US" sz="930" i="1" dirty="0">
                <a:solidFill>
                  <a:srgbClr val="5C6B6D"/>
                </a:solidFill>
                <a:latin typeface="Calibri" pitchFamily="34" charset="0"/>
                <a:ea typeface="Calibri" pitchFamily="34" charset="-122"/>
                <a:cs typeface="Calibri" pitchFamily="34" charset="-120"/>
              </a:rPr>
              <a:t>Repository, branching strategy &amp; CI/CD pipeline</a:t>
            </a:r>
            <a:endParaRPr lang="en-US" sz="930" dirty="0"/>
          </a:p>
        </p:txBody>
      </p:sp>
      <p:sp>
        <p:nvSpPr>
          <p:cNvPr id="21" name="Text 19"/>
          <p:cNvSpPr/>
          <p:nvPr/>
        </p:nvSpPr>
        <p:spPr>
          <a:xfrm>
            <a:off x="7040880" y="4069080"/>
            <a:ext cx="1554480" cy="256032"/>
          </a:xfrm>
          <a:prstGeom prst="rect">
            <a:avLst/>
          </a:prstGeom>
          <a:noFill/>
          <a:ln/>
        </p:spPr>
        <p:txBody>
          <a:bodyPr wrap="square" lIns="0" tIns="0" rIns="0" bIns="0" rtlCol="0" anchor="ctr"/>
          <a:lstStyle/>
          <a:p>
            <a:pPr marL="0" indent="0">
              <a:buNone/>
            </a:pPr>
            <a:r>
              <a:rPr lang="en-US" sz="1300" b="1" dirty="0">
                <a:solidFill>
                  <a:srgbClr val="1C2B2D"/>
                </a:solidFill>
                <a:latin typeface="Calibri" pitchFamily="34" charset="0"/>
                <a:ea typeface="Calibri" pitchFamily="34" charset="-122"/>
                <a:cs typeface="Calibri" pitchFamily="34" charset="-120"/>
              </a:rPr>
              <a:t>Sprint 3</a:t>
            </a:r>
            <a:endParaRPr lang="en-US" sz="1300" dirty="0"/>
          </a:p>
        </p:txBody>
      </p:sp>
      <p:sp>
        <p:nvSpPr>
          <p:cNvPr id="22" name="Text 20"/>
          <p:cNvSpPr/>
          <p:nvPr/>
        </p:nvSpPr>
        <p:spPr>
          <a:xfrm>
            <a:off x="7040880" y="4315968"/>
            <a:ext cx="1554480" cy="219456"/>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Jul 21 – Aug 3</a:t>
            </a:r>
            <a:endParaRPr lang="en-US" sz="900" dirty="0"/>
          </a:p>
        </p:txBody>
      </p:sp>
      <p:sp>
        <p:nvSpPr>
          <p:cNvPr id="23" name="Shape 21"/>
          <p:cNvSpPr/>
          <p:nvPr/>
        </p:nvSpPr>
        <p:spPr>
          <a:xfrm>
            <a:off x="10369296" y="4078224"/>
            <a:ext cx="1014984" cy="256032"/>
          </a:xfrm>
          <a:prstGeom prst="roundRect">
            <a:avLst>
              <a:gd name="adj" fmla="val 21429"/>
            </a:avLst>
          </a:prstGeom>
          <a:solidFill>
            <a:srgbClr val="FFFFFF"/>
          </a:solidFill>
          <a:ln w="9525">
            <a:solidFill>
              <a:srgbClr val="2E9E97"/>
            </a:solidFill>
            <a:prstDash val="solid"/>
          </a:ln>
        </p:spPr>
      </p:sp>
      <p:sp>
        <p:nvSpPr>
          <p:cNvPr id="24" name="Text 22"/>
          <p:cNvSpPr/>
          <p:nvPr/>
        </p:nvSpPr>
        <p:spPr>
          <a:xfrm>
            <a:off x="10369296" y="4078224"/>
            <a:ext cx="1014984" cy="256032"/>
          </a:xfrm>
          <a:prstGeom prst="rect">
            <a:avLst/>
          </a:prstGeom>
          <a:noFill/>
          <a:ln/>
        </p:spPr>
        <p:txBody>
          <a:bodyPr wrap="square" lIns="0" tIns="0" rIns="0" bIns="0" rtlCol="0" anchor="ctr"/>
          <a:lstStyle/>
          <a:p>
            <a:pPr marL="0" indent="0" algn="ctr">
              <a:buNone/>
            </a:pPr>
            <a:r>
              <a:rPr lang="en-US" sz="900" b="1" dirty="0">
                <a:solidFill>
                  <a:srgbClr val="2E9E97"/>
                </a:solidFill>
                <a:latin typeface="Calibri" pitchFamily="34" charset="0"/>
                <a:ea typeface="Calibri" pitchFamily="34" charset="-122"/>
                <a:cs typeface="Calibri" pitchFamily="34" charset="-120"/>
              </a:rPr>
              <a:t>Completed</a:t>
            </a:r>
            <a:endParaRPr lang="en-US" sz="900" dirty="0"/>
          </a:p>
        </p:txBody>
      </p:sp>
      <p:sp>
        <p:nvSpPr>
          <p:cNvPr id="25" name="Text 23"/>
          <p:cNvSpPr/>
          <p:nvPr/>
        </p:nvSpPr>
        <p:spPr>
          <a:xfrm>
            <a:off x="8686800" y="4041648"/>
            <a:ext cx="914400" cy="457200"/>
          </a:xfrm>
          <a:prstGeom prst="rect">
            <a:avLst/>
          </a:prstGeom>
          <a:noFill/>
          <a:ln/>
        </p:spPr>
        <p:txBody>
          <a:bodyPr wrap="square" lIns="0" tIns="0" rIns="0" bIns="0" rtlCol="0" anchor="ctr"/>
          <a:lstStyle/>
          <a:p>
            <a:pPr marL="0" indent="0">
              <a:buNone/>
            </a:pPr>
            <a:r>
              <a:rPr lang="en-US" sz="2000" b="1" dirty="0">
                <a:solidFill>
                  <a:srgbClr val="2E9E97"/>
                </a:solidFill>
                <a:latin typeface="Cambria" pitchFamily="34" charset="0"/>
                <a:ea typeface="Cambria" pitchFamily="34" charset="-122"/>
                <a:cs typeface="Cambria" pitchFamily="34" charset="-120"/>
              </a:rPr>
              <a:t>100%</a:t>
            </a:r>
            <a:endParaRPr lang="en-US" sz="2000" dirty="0"/>
          </a:p>
        </p:txBody>
      </p:sp>
      <p:sp>
        <p:nvSpPr>
          <p:cNvPr id="26" name="Text 24"/>
          <p:cNvSpPr/>
          <p:nvPr/>
        </p:nvSpPr>
        <p:spPr>
          <a:xfrm>
            <a:off x="7040880" y="4572000"/>
            <a:ext cx="4343400" cy="310896"/>
          </a:xfrm>
          <a:prstGeom prst="rect">
            <a:avLst/>
          </a:prstGeom>
          <a:noFill/>
          <a:ln/>
        </p:spPr>
        <p:txBody>
          <a:bodyPr wrap="square" lIns="0" tIns="0" rIns="0" bIns="0" rtlCol="0" anchor="ctr"/>
          <a:lstStyle/>
          <a:p>
            <a:pPr marL="0" indent="0">
              <a:lnSpc>
                <a:spcPct val="110000"/>
              </a:lnSpc>
              <a:buNone/>
            </a:pPr>
            <a:r>
              <a:rPr lang="en-US" sz="930" i="1" dirty="0">
                <a:solidFill>
                  <a:srgbClr val="5C6B6D"/>
                </a:solidFill>
                <a:latin typeface="Calibri" pitchFamily="34" charset="0"/>
                <a:ea typeface="Calibri" pitchFamily="34" charset="-122"/>
                <a:cs typeface="Calibri" pitchFamily="34" charset="-120"/>
              </a:rPr>
              <a:t>10-page Next.js frontend, fully designed &amp; built</a:t>
            </a:r>
            <a:endParaRPr lang="en-US" sz="930" dirty="0"/>
          </a:p>
        </p:txBody>
      </p:sp>
      <p:sp>
        <p:nvSpPr>
          <p:cNvPr id="27" name="Text 25"/>
          <p:cNvSpPr/>
          <p:nvPr/>
        </p:nvSpPr>
        <p:spPr>
          <a:xfrm>
            <a:off x="7040880" y="5029200"/>
            <a:ext cx="1554480" cy="256032"/>
          </a:xfrm>
          <a:prstGeom prst="rect">
            <a:avLst/>
          </a:prstGeom>
          <a:noFill/>
          <a:ln/>
        </p:spPr>
        <p:txBody>
          <a:bodyPr wrap="square" lIns="0" tIns="0" rIns="0" bIns="0" rtlCol="0" anchor="ctr"/>
          <a:lstStyle/>
          <a:p>
            <a:pPr marL="0" indent="0">
              <a:buNone/>
            </a:pPr>
            <a:r>
              <a:rPr lang="en-US" sz="1300" b="1" dirty="0">
                <a:solidFill>
                  <a:srgbClr val="1C2B2D"/>
                </a:solidFill>
                <a:latin typeface="Calibri" pitchFamily="34" charset="0"/>
                <a:ea typeface="Calibri" pitchFamily="34" charset="-122"/>
                <a:cs typeface="Calibri" pitchFamily="34" charset="-120"/>
              </a:rPr>
              <a:t>Sprint 4</a:t>
            </a:r>
            <a:endParaRPr lang="en-US" sz="1300" dirty="0"/>
          </a:p>
        </p:txBody>
      </p:sp>
      <p:sp>
        <p:nvSpPr>
          <p:cNvPr id="28" name="Text 26"/>
          <p:cNvSpPr/>
          <p:nvPr/>
        </p:nvSpPr>
        <p:spPr>
          <a:xfrm>
            <a:off x="7040880" y="5276088"/>
            <a:ext cx="1554480" cy="219456"/>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Aug 4 – 10</a:t>
            </a:r>
            <a:endParaRPr lang="en-US" sz="900" dirty="0"/>
          </a:p>
        </p:txBody>
      </p:sp>
      <p:sp>
        <p:nvSpPr>
          <p:cNvPr id="29" name="Shape 27"/>
          <p:cNvSpPr/>
          <p:nvPr/>
        </p:nvSpPr>
        <p:spPr>
          <a:xfrm>
            <a:off x="10204704" y="5038344"/>
            <a:ext cx="1179576" cy="256032"/>
          </a:xfrm>
          <a:prstGeom prst="roundRect">
            <a:avLst>
              <a:gd name="adj" fmla="val 21429"/>
            </a:avLst>
          </a:prstGeom>
          <a:solidFill>
            <a:srgbClr val="FFFFFF"/>
          </a:solidFill>
          <a:ln w="9525">
            <a:solidFill>
              <a:srgbClr val="E8A33D"/>
            </a:solidFill>
            <a:prstDash val="solid"/>
          </a:ln>
        </p:spPr>
      </p:sp>
      <p:sp>
        <p:nvSpPr>
          <p:cNvPr id="30" name="Text 28"/>
          <p:cNvSpPr/>
          <p:nvPr/>
        </p:nvSpPr>
        <p:spPr>
          <a:xfrm>
            <a:off x="10204704" y="5038344"/>
            <a:ext cx="1179576" cy="256032"/>
          </a:xfrm>
          <a:prstGeom prst="rect">
            <a:avLst/>
          </a:prstGeom>
          <a:noFill/>
          <a:ln/>
        </p:spPr>
        <p:txBody>
          <a:bodyPr wrap="square" lIns="0" tIns="0" rIns="0" bIns="0"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In Progress</a:t>
            </a:r>
            <a:endParaRPr lang="en-US" sz="900" dirty="0"/>
          </a:p>
        </p:txBody>
      </p:sp>
      <p:sp>
        <p:nvSpPr>
          <p:cNvPr id="31" name="Text 29"/>
          <p:cNvSpPr/>
          <p:nvPr/>
        </p:nvSpPr>
        <p:spPr>
          <a:xfrm>
            <a:off x="8686800" y="5001768"/>
            <a:ext cx="914400" cy="457200"/>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30%</a:t>
            </a:r>
            <a:endParaRPr lang="en-US" sz="2000" dirty="0"/>
          </a:p>
        </p:txBody>
      </p:sp>
      <p:sp>
        <p:nvSpPr>
          <p:cNvPr id="32" name="Text 30"/>
          <p:cNvSpPr/>
          <p:nvPr/>
        </p:nvSpPr>
        <p:spPr>
          <a:xfrm>
            <a:off x="7040880" y="5532120"/>
            <a:ext cx="4343400" cy="310896"/>
          </a:xfrm>
          <a:prstGeom prst="rect">
            <a:avLst/>
          </a:prstGeom>
          <a:noFill/>
          <a:ln/>
        </p:spPr>
        <p:txBody>
          <a:bodyPr wrap="square" lIns="0" tIns="0" rIns="0" bIns="0" rtlCol="0" anchor="ctr"/>
          <a:lstStyle/>
          <a:p>
            <a:pPr marL="0" indent="0">
              <a:lnSpc>
                <a:spcPct val="110000"/>
              </a:lnSpc>
              <a:buNone/>
            </a:pPr>
            <a:r>
              <a:rPr lang="en-US" sz="930" i="1" dirty="0">
                <a:solidFill>
                  <a:srgbClr val="5C6B6D"/>
                </a:solidFill>
                <a:latin typeface="Calibri" pitchFamily="34" charset="0"/>
                <a:ea typeface="Calibri" pitchFamily="34" charset="-122"/>
                <a:cs typeface="Calibri" pitchFamily="34" charset="-120"/>
              </a:rPr>
              <a:t>Backend, database &amp; AI/ML microservice integration</a:t>
            </a:r>
            <a:endParaRPr lang="en-US" sz="9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03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SPRINT 3  ·  JULY 21 – AUG 3, 2026</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Sprint Goal &amp; Key Deliverables</a:t>
            </a:r>
            <a:endParaRPr lang="en-US" sz="2800" dirty="0"/>
          </a:p>
        </p:txBody>
      </p:sp>
      <p:sp>
        <p:nvSpPr>
          <p:cNvPr id="6" name="Shape 4"/>
          <p:cNvSpPr/>
          <p:nvPr/>
        </p:nvSpPr>
        <p:spPr>
          <a:xfrm>
            <a:off x="502920" y="1554480"/>
            <a:ext cx="11155680" cy="1005840"/>
          </a:xfrm>
          <a:prstGeom prst="roundRect">
            <a:avLst>
              <a:gd name="adj" fmla="val 9091"/>
            </a:avLst>
          </a:prstGeom>
          <a:solidFill>
            <a:srgbClr val="0B3D45"/>
          </a:solidFill>
          <a:ln w="12700">
            <a:solidFill>
              <a:srgbClr val="0B3D45"/>
            </a:solidFill>
            <a:prstDash val="solid"/>
          </a:ln>
        </p:spPr>
      </p:sp>
      <p:sp>
        <p:nvSpPr>
          <p:cNvPr id="7" name="Text 5"/>
          <p:cNvSpPr/>
          <p:nvPr/>
        </p:nvSpPr>
        <p:spPr>
          <a:xfrm>
            <a:off x="777240" y="1673352"/>
            <a:ext cx="2743200" cy="274320"/>
          </a:xfrm>
          <a:prstGeom prst="rect">
            <a:avLst/>
          </a:prstGeom>
          <a:noFill/>
          <a:ln/>
        </p:spPr>
        <p:txBody>
          <a:bodyPr wrap="square" lIns="0" tIns="0" rIns="0" bIns="0" rtlCol="0" anchor="ctr"/>
          <a:lstStyle/>
          <a:p>
            <a:pPr marL="0" indent="0">
              <a:buNone/>
            </a:pPr>
            <a:r>
              <a:rPr lang="en-US" sz="950" b="1" kern="0" spc="150" dirty="0">
                <a:solidFill>
                  <a:srgbClr val="E8A33D"/>
                </a:solidFill>
                <a:latin typeface="Calibri" pitchFamily="34" charset="0"/>
                <a:ea typeface="Calibri" pitchFamily="34" charset="-122"/>
                <a:cs typeface="Calibri" pitchFamily="34" charset="-120"/>
              </a:rPr>
              <a:t>SPRINT OBJECTIVE</a:t>
            </a:r>
            <a:endParaRPr lang="en-US" sz="950" dirty="0"/>
          </a:p>
        </p:txBody>
      </p:sp>
      <p:sp>
        <p:nvSpPr>
          <p:cNvPr id="8" name="Text 6"/>
          <p:cNvSpPr/>
          <p:nvPr/>
        </p:nvSpPr>
        <p:spPr>
          <a:xfrm>
            <a:off x="777240" y="1938528"/>
            <a:ext cx="10607040" cy="548640"/>
          </a:xfrm>
          <a:prstGeom prst="rect">
            <a:avLst/>
          </a:prstGeom>
          <a:noFill/>
          <a:ln/>
        </p:spPr>
        <p:txBody>
          <a:bodyPr wrap="square" lIns="0" tIns="0" rIns="0" bIns="0" rtlCol="0" anchor="ctr"/>
          <a:lstStyle/>
          <a:p>
            <a:pPr marL="0" indent="0">
              <a:lnSpc>
                <a:spcPct val="120000"/>
              </a:lnSpc>
              <a:buNone/>
            </a:pPr>
            <a:r>
              <a:rPr lang="en-US" sz="1350" i="1" dirty="0">
                <a:solidFill>
                  <a:srgbClr val="FFFFFF"/>
                </a:solidFill>
                <a:latin typeface="Calibri" pitchFamily="34" charset="0"/>
                <a:ea typeface="Calibri" pitchFamily="34" charset="-122"/>
                <a:cs typeface="Calibri" pitchFamily="34" charset="-120"/>
              </a:rPr>
              <a:t>Writing the front-end code for the Alumni platform — a complete, feature-rich Next.js experience covering every component defined in the project proposal.</a:t>
            </a:r>
            <a:endParaRPr lang="en-US" sz="1350" dirty="0"/>
          </a:p>
        </p:txBody>
      </p:sp>
      <p:sp>
        <p:nvSpPr>
          <p:cNvPr id="9" name="Text 7"/>
          <p:cNvSpPr/>
          <p:nvPr/>
        </p:nvSpPr>
        <p:spPr>
          <a:xfrm>
            <a:off x="502920" y="2788920"/>
            <a:ext cx="5486400" cy="274320"/>
          </a:xfrm>
          <a:prstGeom prst="rect">
            <a:avLst/>
          </a:prstGeom>
          <a:noFill/>
          <a:ln/>
        </p:spPr>
        <p:txBody>
          <a:bodyPr wrap="square" lIns="0" tIns="0" rIns="0" bIns="0" rtlCol="0" anchor="ctr"/>
          <a:lstStyle/>
          <a:p>
            <a:pPr marL="0" indent="0">
              <a:buNone/>
            </a:pPr>
            <a:r>
              <a:rPr lang="en-US" sz="1100" b="1" kern="0" spc="150" dirty="0">
                <a:solidFill>
                  <a:srgbClr val="0F6E7A"/>
                </a:solidFill>
                <a:latin typeface="Calibri" pitchFamily="34" charset="0"/>
                <a:ea typeface="Calibri" pitchFamily="34" charset="-122"/>
                <a:cs typeface="Calibri" pitchFamily="34" charset="-120"/>
              </a:rPr>
              <a:t>KEY DELIVERABLES</a:t>
            </a:r>
            <a:endParaRPr lang="en-US" sz="1100" dirty="0"/>
          </a:p>
        </p:txBody>
      </p:sp>
      <p:sp>
        <p:nvSpPr>
          <p:cNvPr id="10" name="Text 8"/>
          <p:cNvSpPr/>
          <p:nvPr/>
        </p:nvSpPr>
        <p:spPr>
          <a:xfrm>
            <a:off x="502920" y="3108960"/>
            <a:ext cx="6583680" cy="306324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230" dirty="0">
                <a:solidFill>
                  <a:srgbClr val="1C2B2D"/>
                </a:solidFill>
                <a:latin typeface="Calibri" pitchFamily="34" charset="0"/>
                <a:ea typeface="Calibri" pitchFamily="34" charset="-122"/>
                <a:cs typeface="Calibri" pitchFamily="34" charset="-120"/>
              </a:rPr>
              <a:t>A full TypeScript type system plus realistic NSU convocation &amp; employer mock datasets</a:t>
            </a:r>
            <a:endParaRPr lang="en-US" sz="1230" dirty="0"/>
          </a:p>
          <a:p>
            <a:pPr marL="177800" indent="-177800">
              <a:lnSpc>
                <a:spcPct val="120000"/>
              </a:lnSpc>
              <a:spcAft>
                <a:spcPts val="1200"/>
              </a:spcAft>
              <a:buSzPct val="100000"/>
              <a:buChar char="▪"/>
            </a:pPr>
            <a:r>
              <a:rPr lang="en-US" sz="1230" dirty="0">
                <a:solidFill>
                  <a:srgbClr val="1C2B2D"/>
                </a:solidFill>
                <a:latin typeface="Calibri" pitchFamily="34" charset="0"/>
                <a:ea typeface="Calibri" pitchFamily="34" charset="-122"/>
                <a:cs typeface="Calibri" pitchFamily="34" charset="-120"/>
              </a:rPr>
              <a:t>A consistent dark glassmorphism design system carried across every page</a:t>
            </a:r>
            <a:endParaRPr lang="en-US" sz="1230" dirty="0"/>
          </a:p>
          <a:p>
            <a:pPr marL="177800" indent="-177800">
              <a:lnSpc>
                <a:spcPct val="120000"/>
              </a:lnSpc>
              <a:spcAft>
                <a:spcPts val="1200"/>
              </a:spcAft>
              <a:buSzPct val="100000"/>
              <a:buChar char="▪"/>
            </a:pPr>
            <a:r>
              <a:rPr lang="en-US" sz="1230" dirty="0">
                <a:solidFill>
                  <a:srgbClr val="1C2B2D"/>
                </a:solidFill>
                <a:latin typeface="Calibri" pitchFamily="34" charset="0"/>
                <a:ea typeface="Calibri" pitchFamily="34" charset="-122"/>
                <a:cs typeface="Calibri" pitchFamily="34" charset="-120"/>
              </a:rPr>
              <a:t>AI Trust Badge, Blockchain Verification, and Payment/Monetization components</a:t>
            </a:r>
            <a:endParaRPr lang="en-US" sz="1230" dirty="0"/>
          </a:p>
          <a:p>
            <a:pPr marL="177800" indent="-177800">
              <a:lnSpc>
                <a:spcPct val="120000"/>
              </a:lnSpc>
              <a:spcAft>
                <a:spcPts val="1200"/>
              </a:spcAft>
              <a:buSzPct val="100000"/>
              <a:buChar char="▪"/>
            </a:pPr>
            <a:r>
              <a:rPr lang="en-US" sz="1230" dirty="0">
                <a:solidFill>
                  <a:srgbClr val="1C2B2D"/>
                </a:solidFill>
                <a:latin typeface="Calibri" pitchFamily="34" charset="0"/>
                <a:ea typeface="Calibri" pitchFamily="34" charset="-122"/>
                <a:cs typeface="Calibri" pitchFamily="34" charset="-120"/>
              </a:rPr>
              <a:t>10 feature-complete pages: Home, CV Grooming, Alumni Directory, Jobs, Employer Portal, Magazine, Admin, Insights, Dashboard, Profile</a:t>
            </a:r>
            <a:endParaRPr lang="en-US" sz="1230" dirty="0"/>
          </a:p>
        </p:txBody>
      </p:sp>
      <p:sp>
        <p:nvSpPr>
          <p:cNvPr id="11" name="Shape 9"/>
          <p:cNvSpPr/>
          <p:nvPr/>
        </p:nvSpPr>
        <p:spPr>
          <a:xfrm>
            <a:off x="7452360" y="2788920"/>
            <a:ext cx="4206240" cy="3383280"/>
          </a:xfrm>
          <a:prstGeom prst="roundRect">
            <a:avLst>
              <a:gd name="adj" fmla="val 2703"/>
            </a:avLst>
          </a:prstGeom>
          <a:solidFill>
            <a:srgbClr val="E8F3F4"/>
          </a:solidFill>
          <a:ln w="12700">
            <a:solidFill>
              <a:srgbClr val="E8F3F4"/>
            </a:solidFill>
            <a:prstDash val="solid"/>
          </a:ln>
          <a:effectLst>
            <a:outerShdw blurRad="88900" dist="25400" dir="5400000" algn="bl" rotWithShape="0">
              <a:srgbClr val="1C2B2D">
                <a:alpha val="10000"/>
              </a:srgbClr>
            </a:outerShdw>
          </a:effectLst>
        </p:spPr>
      </p:sp>
      <p:sp>
        <p:nvSpPr>
          <p:cNvPr id="12" name="Text 10"/>
          <p:cNvSpPr/>
          <p:nvPr/>
        </p:nvSpPr>
        <p:spPr>
          <a:xfrm>
            <a:off x="7708392" y="2971800"/>
            <a:ext cx="3694176" cy="274320"/>
          </a:xfrm>
          <a:prstGeom prst="rect">
            <a:avLst/>
          </a:prstGeom>
          <a:noFill/>
          <a:ln/>
        </p:spPr>
        <p:txBody>
          <a:bodyPr wrap="square" lIns="0" tIns="0" rIns="0" bIns="0" rtlCol="0" anchor="ctr"/>
          <a:lstStyle/>
          <a:p>
            <a:pPr marL="0" indent="0">
              <a:buNone/>
            </a:pPr>
            <a:r>
              <a:rPr lang="en-US" sz="1000" b="1" kern="0" spc="150" dirty="0">
                <a:solidFill>
                  <a:srgbClr val="0F6E7A"/>
                </a:solidFill>
                <a:latin typeface="Calibri" pitchFamily="34" charset="0"/>
                <a:ea typeface="Calibri" pitchFamily="34" charset="-122"/>
                <a:cs typeface="Calibri" pitchFamily="34" charset="-120"/>
              </a:rPr>
              <a:t>SPRINT META</a:t>
            </a:r>
            <a:endParaRPr lang="en-US" sz="1000" dirty="0"/>
          </a:p>
        </p:txBody>
      </p:sp>
      <p:sp>
        <p:nvSpPr>
          <p:cNvPr id="13" name="Shape 11"/>
          <p:cNvSpPr/>
          <p:nvPr/>
        </p:nvSpPr>
        <p:spPr>
          <a:xfrm>
            <a:off x="7708392" y="3291840"/>
            <a:ext cx="1591056" cy="256032"/>
          </a:xfrm>
          <a:prstGeom prst="roundRect">
            <a:avLst>
              <a:gd name="adj" fmla="val 21429"/>
            </a:avLst>
          </a:prstGeom>
          <a:solidFill>
            <a:srgbClr val="FFFFFF"/>
          </a:solidFill>
          <a:ln w="9525">
            <a:solidFill>
              <a:srgbClr val="2E9E97"/>
            </a:solidFill>
            <a:prstDash val="solid"/>
          </a:ln>
        </p:spPr>
      </p:sp>
      <p:sp>
        <p:nvSpPr>
          <p:cNvPr id="14" name="Text 12"/>
          <p:cNvSpPr/>
          <p:nvPr/>
        </p:nvSpPr>
        <p:spPr>
          <a:xfrm>
            <a:off x="7708392" y="3291840"/>
            <a:ext cx="1591056" cy="256032"/>
          </a:xfrm>
          <a:prstGeom prst="rect">
            <a:avLst/>
          </a:prstGeom>
          <a:noFill/>
          <a:ln/>
        </p:spPr>
        <p:txBody>
          <a:bodyPr wrap="square" lIns="0" tIns="0" rIns="0" bIns="0" rtlCol="0" anchor="ctr"/>
          <a:lstStyle/>
          <a:p>
            <a:pPr marL="0" indent="0" algn="ctr">
              <a:buNone/>
            </a:pPr>
            <a:r>
              <a:rPr lang="en-US" sz="900" b="1" dirty="0">
                <a:solidFill>
                  <a:srgbClr val="2E9E97"/>
                </a:solidFill>
                <a:latin typeface="Calibri" pitchFamily="34" charset="0"/>
                <a:ea typeface="Calibri" pitchFamily="34" charset="-122"/>
                <a:cs typeface="Calibri" pitchFamily="34" charset="-120"/>
              </a:rPr>
              <a:t>Completed · 100%</a:t>
            </a:r>
            <a:endParaRPr lang="en-US" sz="900" dirty="0"/>
          </a:p>
        </p:txBody>
      </p:sp>
      <p:sp>
        <p:nvSpPr>
          <p:cNvPr id="15" name="Shape 13"/>
          <p:cNvSpPr/>
          <p:nvPr/>
        </p:nvSpPr>
        <p:spPr>
          <a:xfrm>
            <a:off x="9436608" y="3291840"/>
            <a:ext cx="1508760" cy="256032"/>
          </a:xfrm>
          <a:prstGeom prst="roundRect">
            <a:avLst>
              <a:gd name="adj" fmla="val 21429"/>
            </a:avLst>
          </a:prstGeom>
          <a:solidFill>
            <a:srgbClr val="FFFFFF"/>
          </a:solidFill>
          <a:ln w="9525">
            <a:solidFill>
              <a:srgbClr val="E8A33D"/>
            </a:solidFill>
            <a:prstDash val="solid"/>
          </a:ln>
        </p:spPr>
      </p:sp>
      <p:sp>
        <p:nvSpPr>
          <p:cNvPr id="16" name="Text 14"/>
          <p:cNvSpPr/>
          <p:nvPr/>
        </p:nvSpPr>
        <p:spPr>
          <a:xfrm>
            <a:off x="9436608" y="3291840"/>
            <a:ext cx="1508760" cy="256032"/>
          </a:xfrm>
          <a:prstGeom prst="rect">
            <a:avLst/>
          </a:prstGeom>
          <a:noFill/>
          <a:ln/>
        </p:spPr>
        <p:txBody>
          <a:bodyPr wrap="square" lIns="0" tIns="0" rIns="0" bIns="0"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Medium Priority</a:t>
            </a:r>
            <a:endParaRPr lang="en-US" sz="900" dirty="0"/>
          </a:p>
        </p:txBody>
      </p:sp>
      <p:sp>
        <p:nvSpPr>
          <p:cNvPr id="17" name="Shape 15"/>
          <p:cNvSpPr/>
          <p:nvPr/>
        </p:nvSpPr>
        <p:spPr>
          <a:xfrm>
            <a:off x="7708392" y="3657600"/>
            <a:ext cx="1179576" cy="256032"/>
          </a:xfrm>
          <a:prstGeom prst="roundRect">
            <a:avLst>
              <a:gd name="adj" fmla="val 21429"/>
            </a:avLst>
          </a:prstGeom>
          <a:solidFill>
            <a:srgbClr val="FFFFFF"/>
          </a:solidFill>
          <a:ln w="9525">
            <a:solidFill>
              <a:srgbClr val="0F6E7A"/>
            </a:solidFill>
            <a:prstDash val="solid"/>
          </a:ln>
        </p:spPr>
      </p:sp>
      <p:sp>
        <p:nvSpPr>
          <p:cNvPr id="18" name="Text 16"/>
          <p:cNvSpPr/>
          <p:nvPr/>
        </p:nvSpPr>
        <p:spPr>
          <a:xfrm>
            <a:off x="7708392" y="3657600"/>
            <a:ext cx="1179576" cy="256032"/>
          </a:xfrm>
          <a:prstGeom prst="rect">
            <a:avLst/>
          </a:prstGeom>
          <a:noFill/>
          <a:ln/>
        </p:spPr>
        <p:txBody>
          <a:bodyPr wrap="square" lIns="0" tIns="0" rIns="0" bIns="0" rtlCol="0" anchor="ctr"/>
          <a:lstStyle/>
          <a:p>
            <a:pPr marL="0" indent="0" algn="ctr">
              <a:buNone/>
            </a:pPr>
            <a:r>
              <a:rPr lang="en-US" sz="900" b="1" dirty="0">
                <a:solidFill>
                  <a:srgbClr val="0F6E7A"/>
                </a:solidFill>
                <a:latin typeface="Calibri" pitchFamily="34" charset="0"/>
                <a:ea typeface="Calibri" pitchFamily="34" charset="-122"/>
                <a:cs typeface="Calibri" pitchFamily="34" charset="-120"/>
              </a:rPr>
              <a:t>Tag: Design</a:t>
            </a:r>
            <a:endParaRPr lang="en-US" sz="900" dirty="0"/>
          </a:p>
        </p:txBody>
      </p:sp>
      <p:sp>
        <p:nvSpPr>
          <p:cNvPr id="19" name="Shape 17"/>
          <p:cNvSpPr/>
          <p:nvPr/>
        </p:nvSpPr>
        <p:spPr>
          <a:xfrm>
            <a:off x="9025128" y="3657600"/>
            <a:ext cx="1344168" cy="256032"/>
          </a:xfrm>
          <a:prstGeom prst="roundRect">
            <a:avLst>
              <a:gd name="adj" fmla="val 21429"/>
            </a:avLst>
          </a:prstGeom>
          <a:solidFill>
            <a:srgbClr val="FFFFFF"/>
          </a:solidFill>
          <a:ln w="9525">
            <a:solidFill>
              <a:srgbClr val="0F6E7A"/>
            </a:solidFill>
            <a:prstDash val="solid"/>
          </a:ln>
        </p:spPr>
      </p:sp>
      <p:sp>
        <p:nvSpPr>
          <p:cNvPr id="20" name="Text 18"/>
          <p:cNvSpPr/>
          <p:nvPr/>
        </p:nvSpPr>
        <p:spPr>
          <a:xfrm>
            <a:off x="9025128" y="3657600"/>
            <a:ext cx="1344168" cy="256032"/>
          </a:xfrm>
          <a:prstGeom prst="rect">
            <a:avLst/>
          </a:prstGeom>
          <a:noFill/>
          <a:ln/>
        </p:spPr>
        <p:txBody>
          <a:bodyPr wrap="square" lIns="0" tIns="0" rIns="0" bIns="0" rtlCol="0" anchor="ctr"/>
          <a:lstStyle/>
          <a:p>
            <a:pPr marL="0" indent="0" algn="ctr">
              <a:buNone/>
            </a:pPr>
            <a:r>
              <a:rPr lang="en-US" sz="900" b="1" dirty="0">
                <a:solidFill>
                  <a:srgbClr val="0F6E7A"/>
                </a:solidFill>
                <a:latin typeface="Calibri" pitchFamily="34" charset="0"/>
                <a:ea typeface="Calibri" pitchFamily="34" charset="-122"/>
                <a:cs typeface="Calibri" pitchFamily="34" charset="-120"/>
              </a:rPr>
              <a:t>Tag: Frontend</a:t>
            </a:r>
            <a:endParaRPr lang="en-US" sz="900" dirty="0"/>
          </a:p>
        </p:txBody>
      </p:sp>
      <p:sp>
        <p:nvSpPr>
          <p:cNvPr id="21" name="Shape 19"/>
          <p:cNvSpPr/>
          <p:nvPr/>
        </p:nvSpPr>
        <p:spPr>
          <a:xfrm>
            <a:off x="10506456" y="3657600"/>
            <a:ext cx="1014984" cy="256032"/>
          </a:xfrm>
          <a:prstGeom prst="roundRect">
            <a:avLst>
              <a:gd name="adj" fmla="val 21429"/>
            </a:avLst>
          </a:prstGeom>
          <a:solidFill>
            <a:srgbClr val="FFFFFF"/>
          </a:solidFill>
          <a:ln w="9525">
            <a:solidFill>
              <a:srgbClr val="0F6E7A"/>
            </a:solidFill>
            <a:prstDash val="solid"/>
          </a:ln>
        </p:spPr>
      </p:sp>
      <p:sp>
        <p:nvSpPr>
          <p:cNvPr id="22" name="Text 20"/>
          <p:cNvSpPr/>
          <p:nvPr/>
        </p:nvSpPr>
        <p:spPr>
          <a:xfrm>
            <a:off x="10506456" y="3657600"/>
            <a:ext cx="1014984" cy="256032"/>
          </a:xfrm>
          <a:prstGeom prst="rect">
            <a:avLst/>
          </a:prstGeom>
          <a:noFill/>
          <a:ln/>
        </p:spPr>
        <p:txBody>
          <a:bodyPr wrap="square" lIns="0" tIns="0" rIns="0" bIns="0" rtlCol="0" anchor="ctr"/>
          <a:lstStyle/>
          <a:p>
            <a:pPr marL="0" indent="0" algn="ctr">
              <a:buNone/>
            </a:pPr>
            <a:r>
              <a:rPr lang="en-US" sz="900" b="1" dirty="0">
                <a:solidFill>
                  <a:srgbClr val="0F6E7A"/>
                </a:solidFill>
                <a:latin typeface="Calibri" pitchFamily="34" charset="0"/>
                <a:ea typeface="Calibri" pitchFamily="34" charset="-122"/>
                <a:cs typeface="Calibri" pitchFamily="34" charset="-120"/>
              </a:rPr>
              <a:t>Tag: Docs</a:t>
            </a:r>
            <a:endParaRPr lang="en-US" sz="900" dirty="0"/>
          </a:p>
        </p:txBody>
      </p:sp>
      <p:sp>
        <p:nvSpPr>
          <p:cNvPr id="23" name="Shape 21"/>
          <p:cNvSpPr/>
          <p:nvPr/>
        </p:nvSpPr>
        <p:spPr>
          <a:xfrm>
            <a:off x="7708392" y="4069080"/>
            <a:ext cx="3694176" cy="0"/>
          </a:xfrm>
          <a:prstGeom prst="line">
            <a:avLst/>
          </a:prstGeom>
          <a:noFill/>
          <a:ln w="6350">
            <a:solidFill>
              <a:srgbClr val="0F6E7A">
                <a:alpha val="45000"/>
              </a:srgbClr>
            </a:solidFill>
            <a:prstDash val="solid"/>
          </a:ln>
        </p:spPr>
      </p:sp>
      <p:sp>
        <p:nvSpPr>
          <p:cNvPr id="24" name="Text 22"/>
          <p:cNvSpPr/>
          <p:nvPr/>
        </p:nvSpPr>
        <p:spPr>
          <a:xfrm>
            <a:off x="7708392" y="4206240"/>
            <a:ext cx="3694176" cy="1737360"/>
          </a:xfrm>
          <a:prstGeom prst="rect">
            <a:avLst/>
          </a:prstGeom>
          <a:noFill/>
          <a:ln/>
        </p:spPr>
        <p:txBody>
          <a:bodyPr wrap="square" lIns="0" tIns="0" rIns="0" bIns="0" rtlCol="0" anchor="t"/>
          <a:lstStyle/>
          <a:p>
            <a:pPr marL="0" indent="0">
              <a:lnSpc>
                <a:spcPct val="120000"/>
              </a:lnSpc>
              <a:buNone/>
            </a:pPr>
            <a:r>
              <a:rPr lang="en-US" sz="1050" b="1" dirty="0">
                <a:solidFill>
                  <a:srgbClr val="1C2B2D"/>
                </a:solidFill>
                <a:latin typeface="Calibri" pitchFamily="34" charset="0"/>
                <a:ea typeface="Calibri" pitchFamily="34" charset="-122"/>
                <a:cs typeface="Calibri" pitchFamily="34" charset="-120"/>
              </a:rPr>
              <a:t>Duration</a:t>
            </a:r>
            <a:endParaRPr lang="en-US" sz="1050" dirty="0"/>
          </a:p>
          <a:p>
            <a:pPr marL="0" indent="0">
              <a:lnSpc>
                <a:spcPct val="120000"/>
              </a:lnSpc>
              <a:spcAft>
                <a:spcPts val="800"/>
              </a:spcAft>
              <a:buNone/>
            </a:pPr>
            <a:r>
              <a:rPr lang="en-US" sz="1100" dirty="0">
                <a:solidFill>
                  <a:srgbClr val="0B3D45"/>
                </a:solidFill>
                <a:latin typeface="Calibri" pitchFamily="34" charset="0"/>
                <a:ea typeface="Calibri" pitchFamily="34" charset="-122"/>
                <a:cs typeface="Calibri" pitchFamily="34" charset="-120"/>
              </a:rPr>
              <a:t>2 weeks — extended from the original 1-week plan</a:t>
            </a:r>
            <a:endParaRPr lang="en-US" sz="1050" dirty="0"/>
          </a:p>
          <a:p>
            <a:pPr marL="0" indent="0">
              <a:lnSpc>
                <a:spcPct val="120000"/>
              </a:lnSpc>
              <a:buNone/>
            </a:pPr>
            <a:r>
              <a:rPr lang="en-US" sz="1050" b="1" dirty="0">
                <a:solidFill>
                  <a:srgbClr val="1C2B2D"/>
                </a:solidFill>
                <a:latin typeface="Calibri" pitchFamily="34" charset="0"/>
                <a:ea typeface="Calibri" pitchFamily="34" charset="-122"/>
                <a:cs typeface="Calibri" pitchFamily="34" charset="-120"/>
              </a:rPr>
              <a:t>Owner</a:t>
            </a:r>
            <a:endParaRPr lang="en-US" sz="1050" dirty="0"/>
          </a:p>
          <a:p>
            <a:pPr marL="0" indent="0">
              <a:lnSpc>
                <a:spcPct val="120000"/>
              </a:lnSpc>
              <a:buNone/>
            </a:pPr>
            <a:r>
              <a:rPr lang="en-US" sz="1100" dirty="0">
                <a:solidFill>
                  <a:srgbClr val="0B3D45"/>
                </a:solidFill>
                <a:latin typeface="Calibri" pitchFamily="34" charset="0"/>
                <a:ea typeface="Calibri" pitchFamily="34" charset="-122"/>
                <a:cs typeface="Calibri" pitchFamily="34" charset="-120"/>
              </a:rPr>
              <a:t>Jihanur Rahman Ratul (lead), reviewed with Tahsin Ahmed Sufol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04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WEEKLY PROGRESS</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How the Sprint Unfolded</a:t>
            </a:r>
            <a:endParaRPr lang="en-US" sz="2800" dirty="0"/>
          </a:p>
        </p:txBody>
      </p:sp>
      <p:sp>
        <p:nvSpPr>
          <p:cNvPr id="6" name="Shape 4"/>
          <p:cNvSpPr/>
          <p:nvPr/>
        </p:nvSpPr>
        <p:spPr>
          <a:xfrm>
            <a:off x="502920" y="1691640"/>
            <a:ext cx="512064" cy="512064"/>
          </a:xfrm>
          <a:prstGeom prst="ellipse">
            <a:avLst/>
          </a:prstGeom>
          <a:solidFill>
            <a:srgbClr val="0F6E7A"/>
          </a:solidFill>
          <a:ln/>
        </p:spPr>
      </p:sp>
      <p:pic>
        <p:nvPicPr>
          <p:cNvPr id="7" name="Image 0" descr="/home/claude/sprint3/icons/calendarDays.png"/>
          <p:cNvPicPr>
            <a:picLocks noChangeAspect="1"/>
          </p:cNvPicPr>
          <p:nvPr/>
        </p:nvPicPr>
        <p:blipFill>
          <a:blip r:embed="rId3"/>
          <a:stretch>
            <a:fillRect/>
          </a:stretch>
        </p:blipFill>
        <p:spPr>
          <a:xfrm>
            <a:off x="625815" y="1814535"/>
            <a:ext cx="266273" cy="266273"/>
          </a:xfrm>
          <a:prstGeom prst="rect">
            <a:avLst/>
          </a:prstGeom>
        </p:spPr>
      </p:pic>
      <p:sp>
        <p:nvSpPr>
          <p:cNvPr id="8" name="Text 5"/>
          <p:cNvSpPr/>
          <p:nvPr/>
        </p:nvSpPr>
        <p:spPr>
          <a:xfrm>
            <a:off x="1188720" y="1655064"/>
            <a:ext cx="1005840" cy="512064"/>
          </a:xfrm>
          <a:prstGeom prst="rect">
            <a:avLst/>
          </a:prstGeom>
          <a:noFill/>
          <a:ln/>
        </p:spPr>
        <p:txBody>
          <a:bodyPr wrap="square" lIns="0" tIns="0" rIns="0" bIns="0" rtlCol="0" anchor="ctr"/>
          <a:lstStyle/>
          <a:p>
            <a:pPr marL="0" indent="0">
              <a:buNone/>
            </a:pPr>
            <a:r>
              <a:rPr lang="en-US" sz="1250" b="1" dirty="0">
                <a:solidFill>
                  <a:srgbClr val="1C2B2D"/>
                </a:solidFill>
                <a:latin typeface="Calibri" pitchFamily="34" charset="0"/>
                <a:ea typeface="Calibri" pitchFamily="34" charset="-122"/>
                <a:cs typeface="Calibri" pitchFamily="34" charset="-120"/>
              </a:rPr>
              <a:t>Jul 26</a:t>
            </a:r>
            <a:endParaRPr lang="en-US" sz="1250" dirty="0"/>
          </a:p>
        </p:txBody>
      </p:sp>
      <p:sp>
        <p:nvSpPr>
          <p:cNvPr id="9" name="Text 6"/>
          <p:cNvSpPr/>
          <p:nvPr/>
        </p:nvSpPr>
        <p:spPr>
          <a:xfrm>
            <a:off x="2194560" y="1618488"/>
            <a:ext cx="5166360" cy="987552"/>
          </a:xfrm>
          <a:prstGeom prst="rect">
            <a:avLst/>
          </a:prstGeom>
          <a:noFill/>
          <a:ln/>
        </p:spPr>
        <p:txBody>
          <a:bodyPr wrap="square" lIns="0" tIns="0" rIns="0" bIns="0" rtlCol="0" anchor="t"/>
          <a:lstStyle/>
          <a:p>
            <a:pPr marL="0" indent="0">
              <a:lnSpc>
                <a:spcPct val="120000"/>
              </a:lnSpc>
              <a:buNone/>
            </a:pPr>
            <a:r>
              <a:rPr lang="en-US" sz="1080" dirty="0">
                <a:solidFill>
                  <a:srgbClr val="5C6B6D"/>
                </a:solidFill>
                <a:latin typeface="Calibri" pitchFamily="34" charset="0"/>
                <a:ea typeface="Calibri" pitchFamily="34" charset="-122"/>
                <a:cs typeface="Calibri" pitchFamily="34" charset="-120"/>
              </a:rPr>
              <a:t>Tahsin acknowledges the Sprint 2 → 3 handoff plan in Slack — frontend build begins.</a:t>
            </a:r>
            <a:endParaRPr lang="en-US" sz="1080" dirty="0"/>
          </a:p>
        </p:txBody>
      </p:sp>
      <p:sp>
        <p:nvSpPr>
          <p:cNvPr id="10" name="Shape 7"/>
          <p:cNvSpPr/>
          <p:nvPr/>
        </p:nvSpPr>
        <p:spPr>
          <a:xfrm>
            <a:off x="758952" y="2221992"/>
            <a:ext cx="0" cy="548640"/>
          </a:xfrm>
          <a:prstGeom prst="line">
            <a:avLst/>
          </a:prstGeom>
          <a:noFill/>
          <a:ln w="15875">
            <a:solidFill>
              <a:srgbClr val="0F6E7A">
                <a:alpha val="60000"/>
              </a:srgbClr>
            </a:solidFill>
            <a:prstDash val="dash"/>
          </a:ln>
        </p:spPr>
      </p:sp>
      <p:sp>
        <p:nvSpPr>
          <p:cNvPr id="11" name="Shape 8"/>
          <p:cNvSpPr/>
          <p:nvPr/>
        </p:nvSpPr>
        <p:spPr>
          <a:xfrm>
            <a:off x="502920" y="2770632"/>
            <a:ext cx="512064" cy="512064"/>
          </a:xfrm>
          <a:prstGeom prst="ellipse">
            <a:avLst/>
          </a:prstGeom>
          <a:solidFill>
            <a:srgbClr val="E8A33D"/>
          </a:solidFill>
          <a:ln/>
        </p:spPr>
      </p:sp>
      <p:pic>
        <p:nvPicPr>
          <p:cNvPr id="12" name="Image 1" descr="/home/claude/sprint3/icons/comments.png"/>
          <p:cNvPicPr>
            <a:picLocks noChangeAspect="1"/>
          </p:cNvPicPr>
          <p:nvPr/>
        </p:nvPicPr>
        <p:blipFill>
          <a:blip r:embed="rId4"/>
          <a:stretch>
            <a:fillRect/>
          </a:stretch>
        </p:blipFill>
        <p:spPr>
          <a:xfrm>
            <a:off x="625815" y="2893527"/>
            <a:ext cx="266273" cy="266273"/>
          </a:xfrm>
          <a:prstGeom prst="rect">
            <a:avLst/>
          </a:prstGeom>
        </p:spPr>
      </p:pic>
      <p:sp>
        <p:nvSpPr>
          <p:cNvPr id="13" name="Text 9"/>
          <p:cNvSpPr/>
          <p:nvPr/>
        </p:nvSpPr>
        <p:spPr>
          <a:xfrm>
            <a:off x="1188720" y="2734056"/>
            <a:ext cx="1005840" cy="512064"/>
          </a:xfrm>
          <a:prstGeom prst="rect">
            <a:avLst/>
          </a:prstGeom>
          <a:noFill/>
          <a:ln/>
        </p:spPr>
        <p:txBody>
          <a:bodyPr wrap="square" lIns="0" tIns="0" rIns="0" bIns="0" rtlCol="0" anchor="ctr"/>
          <a:lstStyle/>
          <a:p>
            <a:pPr marL="0" indent="0">
              <a:buNone/>
            </a:pPr>
            <a:r>
              <a:rPr lang="en-US" sz="1250" b="1" dirty="0">
                <a:solidFill>
                  <a:srgbClr val="1C2B2D"/>
                </a:solidFill>
                <a:latin typeface="Calibri" pitchFamily="34" charset="0"/>
                <a:ea typeface="Calibri" pitchFamily="34" charset="-122"/>
                <a:cs typeface="Calibri" pitchFamily="34" charset="-120"/>
              </a:rPr>
              <a:t>Aug 2</a:t>
            </a:r>
            <a:endParaRPr lang="en-US" sz="1250" dirty="0"/>
          </a:p>
        </p:txBody>
      </p:sp>
      <p:sp>
        <p:nvSpPr>
          <p:cNvPr id="14" name="Text 10"/>
          <p:cNvSpPr/>
          <p:nvPr/>
        </p:nvSpPr>
        <p:spPr>
          <a:xfrm>
            <a:off x="2194560" y="2697480"/>
            <a:ext cx="5166360" cy="987552"/>
          </a:xfrm>
          <a:prstGeom prst="rect">
            <a:avLst/>
          </a:prstGeom>
          <a:noFill/>
          <a:ln/>
        </p:spPr>
        <p:txBody>
          <a:bodyPr wrap="square" lIns="0" tIns="0" rIns="0" bIns="0" rtlCol="0" anchor="t"/>
          <a:lstStyle/>
          <a:p>
            <a:pPr marL="0" indent="0">
              <a:lnSpc>
                <a:spcPct val="120000"/>
              </a:lnSpc>
              <a:buNone/>
            </a:pPr>
            <a:r>
              <a:rPr lang="en-US" sz="1080" dirty="0">
                <a:solidFill>
                  <a:srgbClr val="5C6B6D"/>
                </a:solidFill>
                <a:latin typeface="Calibri" pitchFamily="34" charset="0"/>
                <a:ea typeface="Calibri" pitchFamily="34" charset="-122"/>
                <a:cs typeface="Calibri" pitchFamily="34" charset="-120"/>
              </a:rPr>
              <a:t>Jihan checks progress on the frontend and backend, and asks Tahsin to review main and open a PR — the CI/CD pipeline merges automatically once checks pass.</a:t>
            </a:r>
            <a:endParaRPr lang="en-US" sz="1080" dirty="0"/>
          </a:p>
        </p:txBody>
      </p:sp>
      <p:sp>
        <p:nvSpPr>
          <p:cNvPr id="15" name="Shape 11"/>
          <p:cNvSpPr/>
          <p:nvPr/>
        </p:nvSpPr>
        <p:spPr>
          <a:xfrm>
            <a:off x="758952" y="3300984"/>
            <a:ext cx="0" cy="548640"/>
          </a:xfrm>
          <a:prstGeom prst="line">
            <a:avLst/>
          </a:prstGeom>
          <a:noFill/>
          <a:ln w="15875">
            <a:solidFill>
              <a:srgbClr val="0F6E7A">
                <a:alpha val="60000"/>
              </a:srgbClr>
            </a:solidFill>
            <a:prstDash val="dash"/>
          </a:ln>
        </p:spPr>
      </p:sp>
      <p:sp>
        <p:nvSpPr>
          <p:cNvPr id="16" name="Shape 12"/>
          <p:cNvSpPr/>
          <p:nvPr/>
        </p:nvSpPr>
        <p:spPr>
          <a:xfrm>
            <a:off x="502920" y="3849624"/>
            <a:ext cx="512064" cy="512064"/>
          </a:xfrm>
          <a:prstGeom prst="ellipse">
            <a:avLst/>
          </a:prstGeom>
          <a:solidFill>
            <a:srgbClr val="0F6E7A"/>
          </a:solidFill>
          <a:ln/>
        </p:spPr>
      </p:sp>
      <p:pic>
        <p:nvPicPr>
          <p:cNvPr id="17" name="Image 2" descr="/home/claude/sprint3/icons/circleCheck.png"/>
          <p:cNvPicPr>
            <a:picLocks noChangeAspect="1"/>
          </p:cNvPicPr>
          <p:nvPr/>
        </p:nvPicPr>
        <p:blipFill>
          <a:blip r:embed="rId5"/>
          <a:stretch>
            <a:fillRect/>
          </a:stretch>
        </p:blipFill>
        <p:spPr>
          <a:xfrm>
            <a:off x="625815" y="3972519"/>
            <a:ext cx="266273" cy="266273"/>
          </a:xfrm>
          <a:prstGeom prst="rect">
            <a:avLst/>
          </a:prstGeom>
        </p:spPr>
      </p:pic>
      <p:sp>
        <p:nvSpPr>
          <p:cNvPr id="18" name="Text 13"/>
          <p:cNvSpPr/>
          <p:nvPr/>
        </p:nvSpPr>
        <p:spPr>
          <a:xfrm>
            <a:off x="1188720" y="3813048"/>
            <a:ext cx="1005840" cy="512064"/>
          </a:xfrm>
          <a:prstGeom prst="rect">
            <a:avLst/>
          </a:prstGeom>
          <a:noFill/>
          <a:ln/>
        </p:spPr>
        <p:txBody>
          <a:bodyPr wrap="square" lIns="0" tIns="0" rIns="0" bIns="0" rtlCol="0" anchor="ctr"/>
          <a:lstStyle/>
          <a:p>
            <a:pPr marL="0" indent="0">
              <a:buNone/>
            </a:pPr>
            <a:r>
              <a:rPr lang="en-US" sz="1250" b="1" dirty="0">
                <a:solidFill>
                  <a:srgbClr val="1C2B2D"/>
                </a:solidFill>
                <a:latin typeface="Calibri" pitchFamily="34" charset="0"/>
                <a:ea typeface="Calibri" pitchFamily="34" charset="-122"/>
                <a:cs typeface="Calibri" pitchFamily="34" charset="-120"/>
              </a:rPr>
              <a:t>Aug 2</a:t>
            </a:r>
            <a:endParaRPr lang="en-US" sz="1250" dirty="0"/>
          </a:p>
        </p:txBody>
      </p:sp>
      <p:sp>
        <p:nvSpPr>
          <p:cNvPr id="19" name="Text 14"/>
          <p:cNvSpPr/>
          <p:nvPr/>
        </p:nvSpPr>
        <p:spPr>
          <a:xfrm>
            <a:off x="2194560" y="3776472"/>
            <a:ext cx="5166360" cy="987552"/>
          </a:xfrm>
          <a:prstGeom prst="rect">
            <a:avLst/>
          </a:prstGeom>
          <a:noFill/>
          <a:ln/>
        </p:spPr>
        <p:txBody>
          <a:bodyPr wrap="square" lIns="0" tIns="0" rIns="0" bIns="0" rtlCol="0" anchor="t"/>
          <a:lstStyle/>
          <a:p>
            <a:pPr marL="0" indent="0">
              <a:lnSpc>
                <a:spcPct val="120000"/>
              </a:lnSpc>
              <a:buNone/>
            </a:pPr>
            <a:r>
              <a:rPr lang="en-US" sz="1080" dirty="0">
                <a:solidFill>
                  <a:srgbClr val="5C6B6D"/>
                </a:solidFill>
                <a:latin typeface="Calibri" pitchFamily="34" charset="0"/>
                <a:ea typeface="Calibri" pitchFamily="34" charset="-122"/>
                <a:cs typeface="Calibri" pitchFamily="34" charset="-120"/>
              </a:rPr>
              <a:t>Tahsin confirms he’s reviewing and will follow the new PR workflow.</a:t>
            </a:r>
            <a:endParaRPr lang="en-US" sz="1080" dirty="0"/>
          </a:p>
        </p:txBody>
      </p:sp>
      <p:sp>
        <p:nvSpPr>
          <p:cNvPr id="20" name="Shape 15"/>
          <p:cNvSpPr/>
          <p:nvPr/>
        </p:nvSpPr>
        <p:spPr>
          <a:xfrm>
            <a:off x="758952" y="4379976"/>
            <a:ext cx="0" cy="548640"/>
          </a:xfrm>
          <a:prstGeom prst="line">
            <a:avLst/>
          </a:prstGeom>
          <a:noFill/>
          <a:ln w="15875">
            <a:solidFill>
              <a:srgbClr val="0F6E7A">
                <a:alpha val="60000"/>
              </a:srgbClr>
            </a:solidFill>
            <a:prstDash val="dash"/>
          </a:ln>
        </p:spPr>
      </p:sp>
      <p:sp>
        <p:nvSpPr>
          <p:cNvPr id="21" name="Shape 16"/>
          <p:cNvSpPr/>
          <p:nvPr/>
        </p:nvSpPr>
        <p:spPr>
          <a:xfrm>
            <a:off x="502920" y="4928616"/>
            <a:ext cx="512064" cy="512064"/>
          </a:xfrm>
          <a:prstGeom prst="ellipse">
            <a:avLst/>
          </a:prstGeom>
          <a:solidFill>
            <a:srgbClr val="E8A33D"/>
          </a:solidFill>
          <a:ln/>
        </p:spPr>
      </p:sp>
      <p:pic>
        <p:nvPicPr>
          <p:cNvPr id="22" name="Image 3" descr="/home/claude/sprint3/icons/listCheck.png"/>
          <p:cNvPicPr>
            <a:picLocks noChangeAspect="1"/>
          </p:cNvPicPr>
          <p:nvPr/>
        </p:nvPicPr>
        <p:blipFill>
          <a:blip r:embed="rId6"/>
          <a:stretch>
            <a:fillRect/>
          </a:stretch>
        </p:blipFill>
        <p:spPr>
          <a:xfrm>
            <a:off x="625815" y="5051511"/>
            <a:ext cx="266273" cy="266273"/>
          </a:xfrm>
          <a:prstGeom prst="rect">
            <a:avLst/>
          </a:prstGeom>
        </p:spPr>
      </p:pic>
      <p:sp>
        <p:nvSpPr>
          <p:cNvPr id="23" name="Text 17"/>
          <p:cNvSpPr/>
          <p:nvPr/>
        </p:nvSpPr>
        <p:spPr>
          <a:xfrm>
            <a:off x="1188720" y="4892040"/>
            <a:ext cx="1005840" cy="512064"/>
          </a:xfrm>
          <a:prstGeom prst="rect">
            <a:avLst/>
          </a:prstGeom>
          <a:noFill/>
          <a:ln/>
        </p:spPr>
        <p:txBody>
          <a:bodyPr wrap="square" lIns="0" tIns="0" rIns="0" bIns="0" rtlCol="0" anchor="ctr"/>
          <a:lstStyle/>
          <a:p>
            <a:pPr marL="0" indent="0">
              <a:buNone/>
            </a:pPr>
            <a:r>
              <a:rPr lang="en-US" sz="1250" b="1" dirty="0">
                <a:solidFill>
                  <a:srgbClr val="1C2B2D"/>
                </a:solidFill>
                <a:latin typeface="Calibri" pitchFamily="34" charset="0"/>
                <a:ea typeface="Calibri" pitchFamily="34" charset="-122"/>
                <a:cs typeface="Calibri" pitchFamily="34" charset="-120"/>
              </a:rPr>
              <a:t>Today</a:t>
            </a:r>
            <a:endParaRPr lang="en-US" sz="1250" dirty="0"/>
          </a:p>
        </p:txBody>
      </p:sp>
      <p:sp>
        <p:nvSpPr>
          <p:cNvPr id="24" name="Text 18"/>
          <p:cNvSpPr/>
          <p:nvPr/>
        </p:nvSpPr>
        <p:spPr>
          <a:xfrm>
            <a:off x="2194560" y="4855464"/>
            <a:ext cx="5166360" cy="987552"/>
          </a:xfrm>
          <a:prstGeom prst="rect">
            <a:avLst/>
          </a:prstGeom>
          <a:noFill/>
          <a:ln/>
        </p:spPr>
        <p:txBody>
          <a:bodyPr wrap="square" lIns="0" tIns="0" rIns="0" bIns="0" rtlCol="0" anchor="t"/>
          <a:lstStyle/>
          <a:p>
            <a:pPr marL="0" indent="0">
              <a:lnSpc>
                <a:spcPct val="120000"/>
              </a:lnSpc>
              <a:buNone/>
            </a:pPr>
            <a:r>
              <a:rPr lang="en-US" sz="1080" dirty="0">
                <a:solidFill>
                  <a:srgbClr val="5C6B6D"/>
                </a:solidFill>
                <a:latin typeface="Calibri" pitchFamily="34" charset="0"/>
                <a:ea typeface="Calibri" pitchFamily="34" charset="-122"/>
                <a:cs typeface="Calibri" pitchFamily="34" charset="-120"/>
              </a:rPr>
              <a:t>Jihan reports the frontend is essentially done; the conversation shifts to backend status, DB, and wiring the ML/AI microservices in — Sprint 4 begins early.</a:t>
            </a:r>
            <a:endParaRPr lang="en-US" sz="1080" dirty="0"/>
          </a:p>
        </p:txBody>
      </p:sp>
      <p:sp>
        <p:nvSpPr>
          <p:cNvPr id="25" name="Shape 19"/>
          <p:cNvSpPr/>
          <p:nvPr/>
        </p:nvSpPr>
        <p:spPr>
          <a:xfrm>
            <a:off x="7726680" y="1691640"/>
            <a:ext cx="3931920" cy="4206240"/>
          </a:xfrm>
          <a:prstGeom prst="roundRect">
            <a:avLst>
              <a:gd name="adj" fmla="val 2326"/>
            </a:avLst>
          </a:prstGeom>
          <a:solidFill>
            <a:srgbClr val="E8F3F4"/>
          </a:solidFill>
          <a:ln w="12700">
            <a:solidFill>
              <a:srgbClr val="E8F3F4"/>
            </a:solidFill>
            <a:prstDash val="solid"/>
          </a:ln>
          <a:effectLst>
            <a:outerShdw blurRad="88900" dist="25400" dir="5400000" algn="bl" rotWithShape="0">
              <a:srgbClr val="1C2B2D">
                <a:alpha val="10000"/>
              </a:srgbClr>
            </a:outerShdw>
          </a:effectLst>
        </p:spPr>
      </p:sp>
      <p:sp>
        <p:nvSpPr>
          <p:cNvPr id="26" name="Shape 20"/>
          <p:cNvSpPr/>
          <p:nvPr/>
        </p:nvSpPr>
        <p:spPr>
          <a:xfrm>
            <a:off x="7982712" y="1920240"/>
            <a:ext cx="548640" cy="548640"/>
          </a:xfrm>
          <a:prstGeom prst="ellipse">
            <a:avLst/>
          </a:prstGeom>
          <a:solidFill>
            <a:srgbClr val="0F6E7A"/>
          </a:solidFill>
          <a:ln/>
        </p:spPr>
      </p:sp>
      <p:pic>
        <p:nvPicPr>
          <p:cNvPr id="27" name="Image 4" descr="/home/claude/sprint3/icons/clipboardCheck.png"/>
          <p:cNvPicPr>
            <a:picLocks noChangeAspect="1"/>
          </p:cNvPicPr>
          <p:nvPr/>
        </p:nvPicPr>
        <p:blipFill>
          <a:blip r:embed="rId7"/>
          <a:stretch>
            <a:fillRect/>
          </a:stretch>
        </p:blipFill>
        <p:spPr>
          <a:xfrm>
            <a:off x="8114386" y="2051914"/>
            <a:ext cx="285293" cy="285293"/>
          </a:xfrm>
          <a:prstGeom prst="rect">
            <a:avLst/>
          </a:prstGeom>
        </p:spPr>
      </p:pic>
      <p:sp>
        <p:nvSpPr>
          <p:cNvPr id="28" name="Text 21"/>
          <p:cNvSpPr/>
          <p:nvPr/>
        </p:nvSpPr>
        <p:spPr>
          <a:xfrm>
            <a:off x="7982712" y="2606040"/>
            <a:ext cx="3419856" cy="274320"/>
          </a:xfrm>
          <a:prstGeom prst="rect">
            <a:avLst/>
          </a:prstGeom>
          <a:noFill/>
          <a:ln/>
        </p:spPr>
        <p:txBody>
          <a:bodyPr wrap="square" lIns="0" tIns="0" rIns="0" bIns="0" rtlCol="0" anchor="ctr"/>
          <a:lstStyle/>
          <a:p>
            <a:pPr marL="0" indent="0">
              <a:buNone/>
            </a:pPr>
            <a:r>
              <a:rPr lang="en-US" sz="1000" b="1" kern="0" spc="120" dirty="0">
                <a:solidFill>
                  <a:srgbClr val="0F6E7A"/>
                </a:solidFill>
                <a:latin typeface="Calibri" pitchFamily="34" charset="0"/>
                <a:ea typeface="Calibri" pitchFamily="34" charset="-122"/>
                <a:cs typeface="Calibri" pitchFamily="34" charset="-120"/>
              </a:rPr>
              <a:t>HOW WE TRACK PROGRESS</a:t>
            </a:r>
            <a:endParaRPr lang="en-US" sz="1000" dirty="0"/>
          </a:p>
        </p:txBody>
      </p:sp>
      <p:sp>
        <p:nvSpPr>
          <p:cNvPr id="29" name="Text 22"/>
          <p:cNvSpPr/>
          <p:nvPr/>
        </p:nvSpPr>
        <p:spPr>
          <a:xfrm>
            <a:off x="7982712" y="2907792"/>
            <a:ext cx="3419856" cy="2011680"/>
          </a:xfrm>
          <a:prstGeom prst="rect">
            <a:avLst/>
          </a:prstGeom>
          <a:noFill/>
          <a:ln/>
        </p:spPr>
        <p:txBody>
          <a:bodyPr wrap="square" lIns="0" tIns="0" rIns="0" bIns="0" rtlCol="0" anchor="t"/>
          <a:lstStyle/>
          <a:p>
            <a:pPr marL="0" indent="0">
              <a:lnSpc>
                <a:spcPct val="125000"/>
              </a:lnSpc>
              <a:buNone/>
            </a:pPr>
            <a:r>
              <a:rPr lang="en-US" sz="1100" dirty="0">
                <a:solidFill>
                  <a:srgbClr val="5C6B6D"/>
                </a:solidFill>
                <a:latin typeface="Calibri" pitchFamily="34" charset="0"/>
                <a:ea typeface="Calibri" pitchFamily="34" charset="-122"/>
                <a:cs typeface="Calibri" pitchFamily="34" charset="-120"/>
              </a:rPr>
              <a:t>Slack (#299) still handles day-to-day coordination. The Notion Sprint Tracker remains the source of truth for objectives, deliverables, completion % and retrospectives — reported here each week.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05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EVIDENCE · 1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Repository &amp; Commit History</a:t>
            </a:r>
            <a:endParaRPr lang="en-US" sz="2800" dirty="0"/>
          </a:p>
        </p:txBody>
      </p:sp>
      <p:sp>
        <p:nvSpPr>
          <p:cNvPr id="6" name="Text 4"/>
          <p:cNvSpPr/>
          <p:nvPr/>
        </p:nvSpPr>
        <p:spPr>
          <a:xfrm>
            <a:off x="502920" y="1600200"/>
            <a:ext cx="3383280" cy="4572000"/>
          </a:xfrm>
          <a:prstGeom prst="rect">
            <a:avLst/>
          </a:prstGeom>
          <a:noFill/>
          <a:ln/>
        </p:spPr>
        <p:txBody>
          <a:bodyPr wrap="square" lIns="0" tIns="0" rIns="0" bIns="0" rtlCol="0" anchor="t"/>
          <a:lstStyle/>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16 commits on main so far, all authored by the lead (DarkMonarch1)</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Latest commits: "initialize frontend application with modular page structure and core authentication context" and "Frontend setup with Next.js and other necessary configurations"</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A new frontend/ folder joins the existing app/, tests/ and CI/CD structure from Sprint 2</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Repo governance is unchanged: the lead reviews and merges every pull request</a:t>
            </a:r>
            <a:endParaRPr lang="en-US" sz="1180" dirty="0"/>
          </a:p>
        </p:txBody>
      </p:sp>
      <p:sp>
        <p:nvSpPr>
          <p:cNvPr id="7" name="Shape 5"/>
          <p:cNvSpPr/>
          <p:nvPr/>
        </p:nvSpPr>
        <p:spPr>
          <a:xfrm>
            <a:off x="4114800" y="1600200"/>
            <a:ext cx="7573975" cy="4572000"/>
          </a:xfrm>
          <a:prstGeom prst="roundRect">
            <a:avLst>
              <a:gd name="adj" fmla="val 2000"/>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4297680" y="1755648"/>
            <a:ext cx="91440" cy="91440"/>
          </a:xfrm>
          <a:prstGeom prst="ellipse">
            <a:avLst/>
          </a:prstGeom>
          <a:solidFill>
            <a:srgbClr val="D64550"/>
          </a:solidFill>
          <a:ln/>
        </p:spPr>
      </p:sp>
      <p:sp>
        <p:nvSpPr>
          <p:cNvPr id="9" name="Shape 7"/>
          <p:cNvSpPr/>
          <p:nvPr/>
        </p:nvSpPr>
        <p:spPr>
          <a:xfrm>
            <a:off x="4471416" y="1755648"/>
            <a:ext cx="91440" cy="91440"/>
          </a:xfrm>
          <a:prstGeom prst="ellipse">
            <a:avLst/>
          </a:prstGeom>
          <a:solidFill>
            <a:srgbClr val="E8A33D"/>
          </a:solidFill>
          <a:ln/>
        </p:spPr>
      </p:sp>
      <p:sp>
        <p:nvSpPr>
          <p:cNvPr id="10" name="Shape 8"/>
          <p:cNvSpPr/>
          <p:nvPr/>
        </p:nvSpPr>
        <p:spPr>
          <a:xfrm>
            <a:off x="4645152" y="1755648"/>
            <a:ext cx="91440" cy="91440"/>
          </a:xfrm>
          <a:prstGeom prst="ellipse">
            <a:avLst/>
          </a:prstGeom>
          <a:solidFill>
            <a:srgbClr val="2E9E97"/>
          </a:solidFill>
          <a:ln/>
        </p:spPr>
      </p:sp>
      <p:sp>
        <p:nvSpPr>
          <p:cNvPr id="11" name="Text 9"/>
          <p:cNvSpPr/>
          <p:nvPr/>
        </p:nvSpPr>
        <p:spPr>
          <a:xfrm>
            <a:off x="4892040" y="1673352"/>
            <a:ext cx="6613855"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github.com/DarkMonarch1/NSU_CSE299_SEC10_ITN</a:t>
            </a:r>
            <a:endParaRPr lang="en-US" sz="950" dirty="0"/>
          </a:p>
        </p:txBody>
      </p:sp>
      <p:sp>
        <p:nvSpPr>
          <p:cNvPr id="12" name="Shape 10"/>
          <p:cNvSpPr/>
          <p:nvPr/>
        </p:nvSpPr>
        <p:spPr>
          <a:xfrm>
            <a:off x="4279392" y="1984248"/>
            <a:ext cx="7244791" cy="0"/>
          </a:xfrm>
          <a:prstGeom prst="line">
            <a:avLst/>
          </a:prstGeom>
          <a:noFill/>
          <a:ln w="9525">
            <a:solidFill>
              <a:srgbClr val="DCE6E7"/>
            </a:solidFill>
            <a:prstDash val="solid"/>
          </a:ln>
        </p:spPr>
      </p:sp>
      <p:sp>
        <p:nvSpPr>
          <p:cNvPr id="13" name="Shape 11"/>
          <p:cNvSpPr/>
          <p:nvPr/>
        </p:nvSpPr>
        <p:spPr>
          <a:xfrm>
            <a:off x="4283964" y="2269490"/>
            <a:ext cx="7235647" cy="3562604"/>
          </a:xfrm>
          <a:prstGeom prst="rect">
            <a:avLst/>
          </a:prstGeom>
          <a:ln w="12700">
            <a:solidFill>
              <a:srgbClr val="DCE6E7"/>
            </a:solidFill>
            <a:prstDash val="solid"/>
          </a:ln>
        </p:spPr>
      </p:sp>
      <p:pic>
        <p:nvPicPr>
          <p:cNvPr id="14" name="Image 0" descr="/mnt/user-data/uploads/Screenshot_2026-08-09_185056.png"/>
          <p:cNvPicPr>
            <a:picLocks noChangeAspect="1"/>
          </p:cNvPicPr>
          <p:nvPr/>
        </p:nvPicPr>
        <p:blipFill>
          <a:blip r:embed="rId3"/>
          <a:stretch>
            <a:fillRect/>
          </a:stretch>
        </p:blipFill>
        <p:spPr>
          <a:xfrm>
            <a:off x="4297680" y="2283206"/>
            <a:ext cx="7208215" cy="35351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06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EVIDENCE · 2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10 Pages, One Router</a:t>
            </a:r>
            <a:endParaRPr lang="en-US" sz="2800" dirty="0"/>
          </a:p>
        </p:txBody>
      </p:sp>
      <p:sp>
        <p:nvSpPr>
          <p:cNvPr id="6" name="Text 4"/>
          <p:cNvSpPr/>
          <p:nvPr/>
        </p:nvSpPr>
        <p:spPr>
          <a:xfrm>
            <a:off x="502920" y="1600200"/>
            <a:ext cx="3383280" cy="4572000"/>
          </a:xfrm>
          <a:prstGeom prst="rect">
            <a:avLst/>
          </a:prstGeom>
          <a:noFill/>
          <a:ln/>
        </p:spPr>
        <p:txBody>
          <a:bodyPr wrap="square" lIns="0" tIns="0" rIns="0" bIns="0" rtlCol="0" anchor="t"/>
          <a:lstStyle/>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Built on the Next.js App Router — every route lives under frontend/src/app/</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10 top-level pages: admin, alumni, cv-grooming, dashboard, employer, insights, jobs, login, magazine, profile, signup</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A shared layout.tsx and globals.css keep navigation and styling consistent across all of them</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Every page maps directly to a component named in the original project proposal</a:t>
            </a:r>
            <a:endParaRPr lang="en-US" sz="1180" dirty="0"/>
          </a:p>
        </p:txBody>
      </p:sp>
      <p:sp>
        <p:nvSpPr>
          <p:cNvPr id="7" name="Shape 5"/>
          <p:cNvSpPr/>
          <p:nvPr/>
        </p:nvSpPr>
        <p:spPr>
          <a:xfrm>
            <a:off x="4114800" y="1600200"/>
            <a:ext cx="7573975" cy="4572000"/>
          </a:xfrm>
          <a:prstGeom prst="roundRect">
            <a:avLst>
              <a:gd name="adj" fmla="val 2000"/>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4297680" y="1755648"/>
            <a:ext cx="91440" cy="91440"/>
          </a:xfrm>
          <a:prstGeom prst="ellipse">
            <a:avLst/>
          </a:prstGeom>
          <a:solidFill>
            <a:srgbClr val="D64550"/>
          </a:solidFill>
          <a:ln/>
        </p:spPr>
      </p:sp>
      <p:sp>
        <p:nvSpPr>
          <p:cNvPr id="9" name="Shape 7"/>
          <p:cNvSpPr/>
          <p:nvPr/>
        </p:nvSpPr>
        <p:spPr>
          <a:xfrm>
            <a:off x="4471416" y="1755648"/>
            <a:ext cx="91440" cy="91440"/>
          </a:xfrm>
          <a:prstGeom prst="ellipse">
            <a:avLst/>
          </a:prstGeom>
          <a:solidFill>
            <a:srgbClr val="E8A33D"/>
          </a:solidFill>
          <a:ln/>
        </p:spPr>
      </p:sp>
      <p:sp>
        <p:nvSpPr>
          <p:cNvPr id="10" name="Shape 8"/>
          <p:cNvSpPr/>
          <p:nvPr/>
        </p:nvSpPr>
        <p:spPr>
          <a:xfrm>
            <a:off x="4645152" y="1755648"/>
            <a:ext cx="91440" cy="91440"/>
          </a:xfrm>
          <a:prstGeom prst="ellipse">
            <a:avLst/>
          </a:prstGeom>
          <a:solidFill>
            <a:srgbClr val="2E9E97"/>
          </a:solidFill>
          <a:ln/>
        </p:spPr>
      </p:sp>
      <p:sp>
        <p:nvSpPr>
          <p:cNvPr id="11" name="Text 9"/>
          <p:cNvSpPr/>
          <p:nvPr/>
        </p:nvSpPr>
        <p:spPr>
          <a:xfrm>
            <a:off x="4892040" y="1673352"/>
            <a:ext cx="6613855"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NSU_CSE299_SEC10_ITN/frontend/src/app</a:t>
            </a:r>
            <a:endParaRPr lang="en-US" sz="950" dirty="0"/>
          </a:p>
        </p:txBody>
      </p:sp>
      <p:sp>
        <p:nvSpPr>
          <p:cNvPr id="12" name="Shape 10"/>
          <p:cNvSpPr/>
          <p:nvPr/>
        </p:nvSpPr>
        <p:spPr>
          <a:xfrm>
            <a:off x="4279392" y="1984248"/>
            <a:ext cx="7244791" cy="0"/>
          </a:xfrm>
          <a:prstGeom prst="line">
            <a:avLst/>
          </a:prstGeom>
          <a:noFill/>
          <a:ln w="9525">
            <a:solidFill>
              <a:srgbClr val="DCE6E7"/>
            </a:solidFill>
            <a:prstDash val="solid"/>
          </a:ln>
        </p:spPr>
      </p:sp>
      <p:sp>
        <p:nvSpPr>
          <p:cNvPr id="13" name="Shape 11"/>
          <p:cNvSpPr/>
          <p:nvPr/>
        </p:nvSpPr>
        <p:spPr>
          <a:xfrm>
            <a:off x="4283964" y="2275538"/>
            <a:ext cx="7235647" cy="3550509"/>
          </a:xfrm>
          <a:prstGeom prst="rect">
            <a:avLst/>
          </a:prstGeom>
          <a:ln w="12700">
            <a:solidFill>
              <a:srgbClr val="DCE6E7"/>
            </a:solidFill>
            <a:prstDash val="solid"/>
          </a:ln>
        </p:spPr>
      </p:sp>
      <p:pic>
        <p:nvPicPr>
          <p:cNvPr id="14" name="Image 0" descr="/mnt/user-data/uploads/Screenshot_2026-08-09_185125.png"/>
          <p:cNvPicPr>
            <a:picLocks noChangeAspect="1"/>
          </p:cNvPicPr>
          <p:nvPr/>
        </p:nvPicPr>
        <p:blipFill>
          <a:blip r:embed="rId3"/>
          <a:stretch>
            <a:fillRect/>
          </a:stretch>
        </p:blipFill>
        <p:spPr>
          <a:xfrm>
            <a:off x="4297680" y="2289254"/>
            <a:ext cx="7208215" cy="35230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07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EVIDENCE · 3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Under the Hood: Types, Data &amp; Trust Components</a:t>
            </a:r>
            <a:endParaRPr lang="en-US" sz="2800" dirty="0"/>
          </a:p>
        </p:txBody>
      </p:sp>
      <p:sp>
        <p:nvSpPr>
          <p:cNvPr id="6" name="Text 4"/>
          <p:cNvSpPr/>
          <p:nvPr/>
        </p:nvSpPr>
        <p:spPr>
          <a:xfrm>
            <a:off x="502920" y="1600200"/>
            <a:ext cx="3383280" cy="4572000"/>
          </a:xfrm>
          <a:prstGeom prst="rect">
            <a:avLst/>
          </a:prstGeom>
          <a:noFill/>
          <a:ln/>
        </p:spPr>
        <p:txBody>
          <a:bodyPr wrap="square" lIns="0" tIns="0" rIns="0" bIns="0" rtlCol="0" anchor="t"/>
          <a:lstStyle/>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types/index.ts defines schemas for Role, ConvocationBatch, AlumniProfile, JobPosting, CVGroomingReport, Employer and MagazineArticle</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Realistic mock data spans 19th–21st Convocation graduates and real Bangladeshi tech employers — Pathao, bKash, Brain Station 23, Therap, Samsung R&amp;D</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A shared Tailwind v4 dark glassmorphism design system (ambient gradients, badge pills) runs across every page</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The AI Trust Badge, Blockchain Verification modal and Payment/Monetization checkout are built as reusable components, not one-off screens</a:t>
            </a:r>
            <a:endParaRPr lang="en-US" sz="1180" dirty="0"/>
          </a:p>
        </p:txBody>
      </p:sp>
      <p:sp>
        <p:nvSpPr>
          <p:cNvPr id="7" name="Shape 5"/>
          <p:cNvSpPr/>
          <p:nvPr/>
        </p:nvSpPr>
        <p:spPr>
          <a:xfrm>
            <a:off x="4114800" y="1600200"/>
            <a:ext cx="7573975" cy="4572000"/>
          </a:xfrm>
          <a:prstGeom prst="roundRect">
            <a:avLst>
              <a:gd name="adj" fmla="val 2000"/>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4297680" y="1755648"/>
            <a:ext cx="91440" cy="91440"/>
          </a:xfrm>
          <a:prstGeom prst="ellipse">
            <a:avLst/>
          </a:prstGeom>
          <a:solidFill>
            <a:srgbClr val="D64550"/>
          </a:solidFill>
          <a:ln/>
        </p:spPr>
      </p:sp>
      <p:sp>
        <p:nvSpPr>
          <p:cNvPr id="9" name="Shape 7"/>
          <p:cNvSpPr/>
          <p:nvPr/>
        </p:nvSpPr>
        <p:spPr>
          <a:xfrm>
            <a:off x="4471416" y="1755648"/>
            <a:ext cx="91440" cy="91440"/>
          </a:xfrm>
          <a:prstGeom prst="ellipse">
            <a:avLst/>
          </a:prstGeom>
          <a:solidFill>
            <a:srgbClr val="E8A33D"/>
          </a:solidFill>
          <a:ln/>
        </p:spPr>
      </p:sp>
      <p:sp>
        <p:nvSpPr>
          <p:cNvPr id="10" name="Shape 8"/>
          <p:cNvSpPr/>
          <p:nvPr/>
        </p:nvSpPr>
        <p:spPr>
          <a:xfrm>
            <a:off x="4645152" y="1755648"/>
            <a:ext cx="91440" cy="91440"/>
          </a:xfrm>
          <a:prstGeom prst="ellipse">
            <a:avLst/>
          </a:prstGeom>
          <a:solidFill>
            <a:srgbClr val="2E9E97"/>
          </a:solidFill>
          <a:ln/>
        </p:spPr>
      </p:sp>
      <p:sp>
        <p:nvSpPr>
          <p:cNvPr id="11" name="Text 9"/>
          <p:cNvSpPr/>
          <p:nvPr/>
        </p:nvSpPr>
        <p:spPr>
          <a:xfrm>
            <a:off x="4892040" y="1673352"/>
            <a:ext cx="6613855"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frontend/src/types/index.ts</a:t>
            </a:r>
            <a:endParaRPr lang="en-US" sz="950" dirty="0"/>
          </a:p>
        </p:txBody>
      </p:sp>
      <p:sp>
        <p:nvSpPr>
          <p:cNvPr id="12" name="Shape 10"/>
          <p:cNvSpPr/>
          <p:nvPr/>
        </p:nvSpPr>
        <p:spPr>
          <a:xfrm>
            <a:off x="4279392" y="1984248"/>
            <a:ext cx="7244791" cy="0"/>
          </a:xfrm>
          <a:prstGeom prst="line">
            <a:avLst/>
          </a:prstGeom>
          <a:noFill/>
          <a:ln w="9525">
            <a:solidFill>
              <a:srgbClr val="DCE6E7"/>
            </a:solidFill>
            <a:prstDash val="solid"/>
          </a:ln>
        </p:spPr>
      </p:sp>
      <p:sp>
        <p:nvSpPr>
          <p:cNvPr id="13" name="Shape 11"/>
          <p:cNvSpPr/>
          <p:nvPr/>
        </p:nvSpPr>
        <p:spPr>
          <a:xfrm>
            <a:off x="4283964" y="2262528"/>
            <a:ext cx="7235647" cy="3576529"/>
          </a:xfrm>
          <a:prstGeom prst="rect">
            <a:avLst/>
          </a:prstGeom>
          <a:ln w="12700">
            <a:solidFill>
              <a:srgbClr val="DCE6E7"/>
            </a:solidFill>
            <a:prstDash val="solid"/>
          </a:ln>
        </p:spPr>
      </p:sp>
      <p:pic>
        <p:nvPicPr>
          <p:cNvPr id="14" name="Image 0" descr="/mnt/user-data/uploads/Screenshot_2026-08-09_185350.png"/>
          <p:cNvPicPr>
            <a:picLocks noChangeAspect="1"/>
          </p:cNvPicPr>
          <p:nvPr/>
        </p:nvPicPr>
        <p:blipFill>
          <a:blip r:embed="rId3"/>
          <a:stretch>
            <a:fillRect/>
          </a:stretch>
        </p:blipFill>
        <p:spPr>
          <a:xfrm>
            <a:off x="4297680" y="2276244"/>
            <a:ext cx="7208215" cy="35490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08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EVIDENCE · 4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Sprint Tracking in Notion</a:t>
            </a:r>
            <a:endParaRPr lang="en-US" sz="2800" dirty="0"/>
          </a:p>
        </p:txBody>
      </p:sp>
      <p:sp>
        <p:nvSpPr>
          <p:cNvPr id="6" name="Text 4"/>
          <p:cNvSpPr/>
          <p:nvPr/>
        </p:nvSpPr>
        <p:spPr>
          <a:xfrm>
            <a:off x="502920" y="1600200"/>
            <a:ext cx="3383280" cy="4572000"/>
          </a:xfrm>
          <a:prstGeom prst="rect">
            <a:avLst/>
          </a:prstGeom>
          <a:noFill/>
          <a:ln/>
        </p:spPr>
        <p:txBody>
          <a:bodyPr wrap="square" lIns="0" tIns="0" rIns="0" bIns="0" rtlCol="0" anchor="t"/>
          <a:lstStyle/>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Sprint 3 is logged Completed at 100%, medium priority, across a 2-week window (July 21 – Aug 3)</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Retrospective notes stay honest: delayed a little by overlapping academic exams — the same caution flagged back in Sprint 2</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Sprint 4 is already open in the same tracker — 30% in progress, focused on backend + database integration</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One shared table remains the single source of truth for every weekly report</a:t>
            </a:r>
            <a:endParaRPr lang="en-US" sz="1180" dirty="0"/>
          </a:p>
        </p:txBody>
      </p:sp>
      <p:sp>
        <p:nvSpPr>
          <p:cNvPr id="7" name="Shape 5"/>
          <p:cNvSpPr/>
          <p:nvPr/>
        </p:nvSpPr>
        <p:spPr>
          <a:xfrm>
            <a:off x="4114800" y="1600200"/>
            <a:ext cx="7573975" cy="4572000"/>
          </a:xfrm>
          <a:prstGeom prst="roundRect">
            <a:avLst>
              <a:gd name="adj" fmla="val 2000"/>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4297680" y="1755648"/>
            <a:ext cx="91440" cy="91440"/>
          </a:xfrm>
          <a:prstGeom prst="ellipse">
            <a:avLst/>
          </a:prstGeom>
          <a:solidFill>
            <a:srgbClr val="D64550"/>
          </a:solidFill>
          <a:ln/>
        </p:spPr>
      </p:sp>
      <p:sp>
        <p:nvSpPr>
          <p:cNvPr id="9" name="Shape 7"/>
          <p:cNvSpPr/>
          <p:nvPr/>
        </p:nvSpPr>
        <p:spPr>
          <a:xfrm>
            <a:off x="4471416" y="1755648"/>
            <a:ext cx="91440" cy="91440"/>
          </a:xfrm>
          <a:prstGeom prst="ellipse">
            <a:avLst/>
          </a:prstGeom>
          <a:solidFill>
            <a:srgbClr val="E8A33D"/>
          </a:solidFill>
          <a:ln/>
        </p:spPr>
      </p:sp>
      <p:sp>
        <p:nvSpPr>
          <p:cNvPr id="10" name="Shape 8"/>
          <p:cNvSpPr/>
          <p:nvPr/>
        </p:nvSpPr>
        <p:spPr>
          <a:xfrm>
            <a:off x="4645152" y="1755648"/>
            <a:ext cx="91440" cy="91440"/>
          </a:xfrm>
          <a:prstGeom prst="ellipse">
            <a:avLst/>
          </a:prstGeom>
          <a:solidFill>
            <a:srgbClr val="2E9E97"/>
          </a:solidFill>
          <a:ln/>
        </p:spPr>
      </p:sp>
      <p:sp>
        <p:nvSpPr>
          <p:cNvPr id="11" name="Text 9"/>
          <p:cNvSpPr/>
          <p:nvPr/>
        </p:nvSpPr>
        <p:spPr>
          <a:xfrm>
            <a:off x="4892040" y="1673352"/>
            <a:ext cx="6613855"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Notion — Sprint Tracker (299 [ITN])</a:t>
            </a:r>
            <a:endParaRPr lang="en-US" sz="950" dirty="0"/>
          </a:p>
        </p:txBody>
      </p:sp>
      <p:sp>
        <p:nvSpPr>
          <p:cNvPr id="12" name="Shape 10"/>
          <p:cNvSpPr/>
          <p:nvPr/>
        </p:nvSpPr>
        <p:spPr>
          <a:xfrm>
            <a:off x="4279392" y="1984248"/>
            <a:ext cx="7244791" cy="0"/>
          </a:xfrm>
          <a:prstGeom prst="line">
            <a:avLst/>
          </a:prstGeom>
          <a:noFill/>
          <a:ln w="9525">
            <a:solidFill>
              <a:srgbClr val="DCE6E7"/>
            </a:solidFill>
            <a:prstDash val="solid"/>
          </a:ln>
        </p:spPr>
      </p:sp>
      <p:sp>
        <p:nvSpPr>
          <p:cNvPr id="13" name="Shape 11"/>
          <p:cNvSpPr/>
          <p:nvPr/>
        </p:nvSpPr>
        <p:spPr>
          <a:xfrm>
            <a:off x="4283964" y="2098341"/>
            <a:ext cx="7235647" cy="3904901"/>
          </a:xfrm>
          <a:prstGeom prst="rect">
            <a:avLst/>
          </a:prstGeom>
          <a:ln w="12700">
            <a:solidFill>
              <a:srgbClr val="DCE6E7"/>
            </a:solidFill>
            <a:prstDash val="solid"/>
          </a:ln>
        </p:spPr>
      </p:sp>
      <p:pic>
        <p:nvPicPr>
          <p:cNvPr id="14" name="Image 0" descr="/mnt/user-data/uploads/Screenshot_2026-08-09_190428.png"/>
          <p:cNvPicPr>
            <a:picLocks noChangeAspect="1"/>
          </p:cNvPicPr>
          <p:nvPr/>
        </p:nvPicPr>
        <p:blipFill>
          <a:blip r:embed="rId3"/>
          <a:stretch>
            <a:fillRect/>
          </a:stretch>
        </p:blipFill>
        <p:spPr>
          <a:xfrm>
            <a:off x="4297680" y="2112057"/>
            <a:ext cx="7208215" cy="38774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09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LIVE DEMO · 1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It Runs Locally</a:t>
            </a:r>
            <a:endParaRPr lang="en-US" sz="2800" dirty="0"/>
          </a:p>
        </p:txBody>
      </p:sp>
      <p:sp>
        <p:nvSpPr>
          <p:cNvPr id="6" name="Text 4"/>
          <p:cNvSpPr/>
          <p:nvPr/>
        </p:nvSpPr>
        <p:spPr>
          <a:xfrm>
            <a:off x="502920" y="1481328"/>
            <a:ext cx="11155680" cy="502920"/>
          </a:xfrm>
          <a:prstGeom prst="rect">
            <a:avLst/>
          </a:prstGeom>
          <a:noFill/>
          <a:ln/>
        </p:spPr>
        <p:txBody>
          <a:bodyPr wrap="square" lIns="0" tIns="0" rIns="0" bIns="0" rtlCol="0" anchor="ctr"/>
          <a:lstStyle/>
          <a:p>
            <a:pPr marL="0" indent="0">
              <a:lnSpc>
                <a:spcPct val="120000"/>
              </a:lnSpc>
              <a:buNone/>
            </a:pPr>
            <a:r>
              <a:rPr lang="en-US" sz="1250" i="1" dirty="0">
                <a:solidFill>
                  <a:srgbClr val="5C6B6D"/>
                </a:solidFill>
                <a:latin typeface="Calibri" pitchFamily="34" charset="0"/>
                <a:ea typeface="Calibri" pitchFamily="34" charset="-122"/>
                <a:cs typeface="Calibri" pitchFamily="34" charset="-120"/>
              </a:rPr>
              <a:t>npm run dev boots the whole platform in under a second — here’s what loads.</a:t>
            </a:r>
            <a:endParaRPr lang="en-US" sz="1250" dirty="0"/>
          </a:p>
        </p:txBody>
      </p:sp>
      <p:sp>
        <p:nvSpPr>
          <p:cNvPr id="7" name="Shape 5"/>
          <p:cNvSpPr/>
          <p:nvPr/>
        </p:nvSpPr>
        <p:spPr>
          <a:xfrm>
            <a:off x="502920" y="2057400"/>
            <a:ext cx="5477256" cy="4114800"/>
          </a:xfrm>
          <a:prstGeom prst="roundRect">
            <a:avLst>
              <a:gd name="adj" fmla="val 2222"/>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685800" y="2212848"/>
            <a:ext cx="91440" cy="91440"/>
          </a:xfrm>
          <a:prstGeom prst="ellipse">
            <a:avLst/>
          </a:prstGeom>
          <a:solidFill>
            <a:srgbClr val="D64550"/>
          </a:solidFill>
          <a:ln/>
        </p:spPr>
      </p:sp>
      <p:sp>
        <p:nvSpPr>
          <p:cNvPr id="9" name="Shape 7"/>
          <p:cNvSpPr/>
          <p:nvPr/>
        </p:nvSpPr>
        <p:spPr>
          <a:xfrm>
            <a:off x="859536" y="2212848"/>
            <a:ext cx="91440" cy="91440"/>
          </a:xfrm>
          <a:prstGeom prst="ellipse">
            <a:avLst/>
          </a:prstGeom>
          <a:solidFill>
            <a:srgbClr val="E8A33D"/>
          </a:solidFill>
          <a:ln/>
        </p:spPr>
      </p:sp>
      <p:sp>
        <p:nvSpPr>
          <p:cNvPr id="10" name="Shape 8"/>
          <p:cNvSpPr/>
          <p:nvPr/>
        </p:nvSpPr>
        <p:spPr>
          <a:xfrm>
            <a:off x="1033272" y="2212848"/>
            <a:ext cx="91440" cy="91440"/>
          </a:xfrm>
          <a:prstGeom prst="ellipse">
            <a:avLst/>
          </a:prstGeom>
          <a:solidFill>
            <a:srgbClr val="2E9E97"/>
          </a:solidFill>
          <a:ln/>
        </p:spPr>
      </p:sp>
      <p:sp>
        <p:nvSpPr>
          <p:cNvPr id="11" name="Text 9"/>
          <p:cNvSpPr/>
          <p:nvPr/>
        </p:nvSpPr>
        <p:spPr>
          <a:xfrm>
            <a:off x="1280160" y="2130552"/>
            <a:ext cx="4517136"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Terminal — Next.js 16.3.0 (Turbopack), ready in 756ms</a:t>
            </a:r>
            <a:endParaRPr lang="en-US" sz="950" dirty="0"/>
          </a:p>
        </p:txBody>
      </p:sp>
      <p:sp>
        <p:nvSpPr>
          <p:cNvPr id="12" name="Shape 10"/>
          <p:cNvSpPr/>
          <p:nvPr/>
        </p:nvSpPr>
        <p:spPr>
          <a:xfrm>
            <a:off x="667512" y="2441448"/>
            <a:ext cx="5148072" cy="0"/>
          </a:xfrm>
          <a:prstGeom prst="line">
            <a:avLst/>
          </a:prstGeom>
          <a:noFill/>
          <a:ln w="9525">
            <a:solidFill>
              <a:srgbClr val="DCE6E7"/>
            </a:solidFill>
            <a:prstDash val="solid"/>
          </a:ln>
        </p:spPr>
      </p:sp>
      <p:sp>
        <p:nvSpPr>
          <p:cNvPr id="13" name="Shape 11"/>
          <p:cNvSpPr/>
          <p:nvPr/>
        </p:nvSpPr>
        <p:spPr>
          <a:xfrm>
            <a:off x="672084" y="2890139"/>
            <a:ext cx="5138928" cy="2778506"/>
          </a:xfrm>
          <a:prstGeom prst="rect">
            <a:avLst/>
          </a:prstGeom>
          <a:ln w="12700">
            <a:solidFill>
              <a:srgbClr val="DCE6E7"/>
            </a:solidFill>
            <a:prstDash val="solid"/>
          </a:ln>
        </p:spPr>
      </p:sp>
      <p:pic>
        <p:nvPicPr>
          <p:cNvPr id="14" name="Image 0" descr="/mnt/user-data/uploads/Screenshot_2026-08-09_190901.png"/>
          <p:cNvPicPr>
            <a:picLocks noChangeAspect="1"/>
          </p:cNvPicPr>
          <p:nvPr/>
        </p:nvPicPr>
        <p:blipFill>
          <a:blip r:embed="rId3"/>
          <a:stretch>
            <a:fillRect/>
          </a:stretch>
        </p:blipFill>
        <p:spPr>
          <a:xfrm>
            <a:off x="685800" y="2903855"/>
            <a:ext cx="5111496" cy="2751074"/>
          </a:xfrm>
          <a:prstGeom prst="rect">
            <a:avLst/>
          </a:prstGeom>
        </p:spPr>
      </p:pic>
      <p:sp>
        <p:nvSpPr>
          <p:cNvPr id="15" name="Shape 12"/>
          <p:cNvSpPr/>
          <p:nvPr/>
        </p:nvSpPr>
        <p:spPr>
          <a:xfrm>
            <a:off x="6208776" y="2057400"/>
            <a:ext cx="5477256" cy="4114800"/>
          </a:xfrm>
          <a:prstGeom prst="roundRect">
            <a:avLst>
              <a:gd name="adj" fmla="val 2222"/>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16" name="Shape 13"/>
          <p:cNvSpPr/>
          <p:nvPr/>
        </p:nvSpPr>
        <p:spPr>
          <a:xfrm>
            <a:off x="6391656" y="2212848"/>
            <a:ext cx="91440" cy="91440"/>
          </a:xfrm>
          <a:prstGeom prst="ellipse">
            <a:avLst/>
          </a:prstGeom>
          <a:solidFill>
            <a:srgbClr val="D64550"/>
          </a:solidFill>
          <a:ln/>
        </p:spPr>
      </p:sp>
      <p:sp>
        <p:nvSpPr>
          <p:cNvPr id="17" name="Shape 14"/>
          <p:cNvSpPr/>
          <p:nvPr/>
        </p:nvSpPr>
        <p:spPr>
          <a:xfrm>
            <a:off x="6565392" y="2212848"/>
            <a:ext cx="91440" cy="91440"/>
          </a:xfrm>
          <a:prstGeom prst="ellipse">
            <a:avLst/>
          </a:prstGeom>
          <a:solidFill>
            <a:srgbClr val="E8A33D"/>
          </a:solidFill>
          <a:ln/>
        </p:spPr>
      </p:sp>
      <p:sp>
        <p:nvSpPr>
          <p:cNvPr id="18" name="Shape 15"/>
          <p:cNvSpPr/>
          <p:nvPr/>
        </p:nvSpPr>
        <p:spPr>
          <a:xfrm>
            <a:off x="6739128" y="2212848"/>
            <a:ext cx="91440" cy="91440"/>
          </a:xfrm>
          <a:prstGeom prst="ellipse">
            <a:avLst/>
          </a:prstGeom>
          <a:solidFill>
            <a:srgbClr val="2E9E97"/>
          </a:solidFill>
          <a:ln/>
        </p:spPr>
      </p:sp>
      <p:sp>
        <p:nvSpPr>
          <p:cNvPr id="19" name="Text 16"/>
          <p:cNvSpPr/>
          <p:nvPr/>
        </p:nvSpPr>
        <p:spPr>
          <a:xfrm>
            <a:off x="6986016" y="2130552"/>
            <a:ext cx="4517136"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localhost:3000 — CareerSetu homepage</a:t>
            </a:r>
            <a:endParaRPr lang="en-US" sz="950" dirty="0"/>
          </a:p>
        </p:txBody>
      </p:sp>
      <p:sp>
        <p:nvSpPr>
          <p:cNvPr id="20" name="Shape 17"/>
          <p:cNvSpPr/>
          <p:nvPr/>
        </p:nvSpPr>
        <p:spPr>
          <a:xfrm>
            <a:off x="6373368" y="2441448"/>
            <a:ext cx="5148072" cy="0"/>
          </a:xfrm>
          <a:prstGeom prst="line">
            <a:avLst/>
          </a:prstGeom>
          <a:noFill/>
          <a:ln w="9525">
            <a:solidFill>
              <a:srgbClr val="DCE6E7"/>
            </a:solidFill>
            <a:prstDash val="solid"/>
          </a:ln>
        </p:spPr>
      </p:sp>
      <p:sp>
        <p:nvSpPr>
          <p:cNvPr id="21" name="Shape 18"/>
          <p:cNvSpPr/>
          <p:nvPr/>
        </p:nvSpPr>
        <p:spPr>
          <a:xfrm>
            <a:off x="6377940" y="2892356"/>
            <a:ext cx="5138928" cy="2774071"/>
          </a:xfrm>
          <a:prstGeom prst="rect">
            <a:avLst/>
          </a:prstGeom>
          <a:ln w="12700">
            <a:solidFill>
              <a:srgbClr val="DCE6E7"/>
            </a:solidFill>
            <a:prstDash val="solid"/>
          </a:ln>
        </p:spPr>
      </p:sp>
      <p:pic>
        <p:nvPicPr>
          <p:cNvPr id="22" name="Image 1" descr="/mnt/user-data/uploads/Screenshot_2026-08-09_190925.png"/>
          <p:cNvPicPr>
            <a:picLocks noChangeAspect="1"/>
          </p:cNvPicPr>
          <p:nvPr/>
        </p:nvPicPr>
        <p:blipFill>
          <a:blip r:embed="rId4"/>
          <a:stretch>
            <a:fillRect/>
          </a:stretch>
        </p:blipFill>
        <p:spPr>
          <a:xfrm>
            <a:off x="6391656" y="2906072"/>
            <a:ext cx="5111496" cy="27466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10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LIVE DEMO · 2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AI CV Grooming Tool</a:t>
            </a:r>
            <a:endParaRPr lang="en-US" sz="2800" dirty="0"/>
          </a:p>
        </p:txBody>
      </p:sp>
      <p:sp>
        <p:nvSpPr>
          <p:cNvPr id="6" name="Text 4"/>
          <p:cNvSpPr/>
          <p:nvPr/>
        </p:nvSpPr>
        <p:spPr>
          <a:xfrm>
            <a:off x="502920" y="1481328"/>
            <a:ext cx="11155680" cy="502920"/>
          </a:xfrm>
          <a:prstGeom prst="rect">
            <a:avLst/>
          </a:prstGeom>
          <a:noFill/>
          <a:ln/>
        </p:spPr>
        <p:txBody>
          <a:bodyPr wrap="square" lIns="0" tIns="0" rIns="0" bIns="0" rtlCol="0" anchor="ctr"/>
          <a:lstStyle/>
          <a:p>
            <a:pPr marL="0" indent="0">
              <a:lnSpc>
                <a:spcPct val="120000"/>
              </a:lnSpc>
              <a:buNone/>
            </a:pPr>
            <a:r>
              <a:rPr lang="en-US" sz="1250" i="1" dirty="0">
                <a:solidFill>
                  <a:srgbClr val="5C6B6D"/>
                </a:solidFill>
                <a:latin typeface="Calibri" pitchFamily="34" charset="0"/>
                <a:ea typeface="Calibri" pitchFamily="34" charset="-122"/>
                <a:cs typeface="Calibri" pitchFamily="34" charset="-120"/>
              </a:rPr>
              <a:t>One of the proposal’s three AI pillars, now a working tool — demoed with Jihan’s own CV: a 92/100 ATS score for "Full Stack AI Engineer," 8 matched skills, and 3 flagged gaps (Docker, PyTorch/ML inferencing, GraphQL).</a:t>
            </a:r>
            <a:endParaRPr lang="en-US" sz="1250" dirty="0"/>
          </a:p>
        </p:txBody>
      </p:sp>
      <p:sp>
        <p:nvSpPr>
          <p:cNvPr id="7" name="Shape 5"/>
          <p:cNvSpPr/>
          <p:nvPr/>
        </p:nvSpPr>
        <p:spPr>
          <a:xfrm>
            <a:off x="502920" y="2057400"/>
            <a:ext cx="5477256" cy="4114800"/>
          </a:xfrm>
          <a:prstGeom prst="roundRect">
            <a:avLst>
              <a:gd name="adj" fmla="val 2222"/>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685800" y="2212848"/>
            <a:ext cx="91440" cy="91440"/>
          </a:xfrm>
          <a:prstGeom prst="ellipse">
            <a:avLst/>
          </a:prstGeom>
          <a:solidFill>
            <a:srgbClr val="D64550"/>
          </a:solidFill>
          <a:ln/>
        </p:spPr>
      </p:sp>
      <p:sp>
        <p:nvSpPr>
          <p:cNvPr id="9" name="Shape 7"/>
          <p:cNvSpPr/>
          <p:nvPr/>
        </p:nvSpPr>
        <p:spPr>
          <a:xfrm>
            <a:off x="859536" y="2212848"/>
            <a:ext cx="91440" cy="91440"/>
          </a:xfrm>
          <a:prstGeom prst="ellipse">
            <a:avLst/>
          </a:prstGeom>
          <a:solidFill>
            <a:srgbClr val="E8A33D"/>
          </a:solidFill>
          <a:ln/>
        </p:spPr>
      </p:sp>
      <p:sp>
        <p:nvSpPr>
          <p:cNvPr id="10" name="Shape 8"/>
          <p:cNvSpPr/>
          <p:nvPr/>
        </p:nvSpPr>
        <p:spPr>
          <a:xfrm>
            <a:off x="1033272" y="2212848"/>
            <a:ext cx="91440" cy="91440"/>
          </a:xfrm>
          <a:prstGeom prst="ellipse">
            <a:avLst/>
          </a:prstGeom>
          <a:solidFill>
            <a:srgbClr val="2E9E97"/>
          </a:solidFill>
          <a:ln/>
        </p:spPr>
      </p:sp>
      <p:sp>
        <p:nvSpPr>
          <p:cNvPr id="11" name="Text 9"/>
          <p:cNvSpPr/>
          <p:nvPr/>
        </p:nvSpPr>
        <p:spPr>
          <a:xfrm>
            <a:off x="1280160" y="2130552"/>
            <a:ext cx="4517136"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AI CV Grooming — Strengths &amp; Summary</a:t>
            </a:r>
            <a:endParaRPr lang="en-US" sz="950" dirty="0"/>
          </a:p>
        </p:txBody>
      </p:sp>
      <p:sp>
        <p:nvSpPr>
          <p:cNvPr id="12" name="Shape 10"/>
          <p:cNvSpPr/>
          <p:nvPr/>
        </p:nvSpPr>
        <p:spPr>
          <a:xfrm>
            <a:off x="667512" y="2441448"/>
            <a:ext cx="5148072" cy="0"/>
          </a:xfrm>
          <a:prstGeom prst="line">
            <a:avLst/>
          </a:prstGeom>
          <a:noFill/>
          <a:ln w="9525">
            <a:solidFill>
              <a:srgbClr val="DCE6E7"/>
            </a:solidFill>
            <a:prstDash val="solid"/>
          </a:ln>
        </p:spPr>
      </p:sp>
      <p:sp>
        <p:nvSpPr>
          <p:cNvPr id="13" name="Shape 11"/>
          <p:cNvSpPr/>
          <p:nvPr/>
        </p:nvSpPr>
        <p:spPr>
          <a:xfrm>
            <a:off x="672084" y="2903337"/>
            <a:ext cx="5138928" cy="2752110"/>
          </a:xfrm>
          <a:prstGeom prst="rect">
            <a:avLst/>
          </a:prstGeom>
          <a:ln w="12700">
            <a:solidFill>
              <a:srgbClr val="DCE6E7"/>
            </a:solidFill>
            <a:prstDash val="solid"/>
          </a:ln>
        </p:spPr>
      </p:sp>
      <p:pic>
        <p:nvPicPr>
          <p:cNvPr id="14" name="Image 0" descr="/mnt/user-data/uploads/Screenshot_2026-08-09_191239.png"/>
          <p:cNvPicPr>
            <a:picLocks noChangeAspect="1"/>
          </p:cNvPicPr>
          <p:nvPr/>
        </p:nvPicPr>
        <p:blipFill>
          <a:blip r:embed="rId3"/>
          <a:stretch>
            <a:fillRect/>
          </a:stretch>
        </p:blipFill>
        <p:spPr>
          <a:xfrm>
            <a:off x="685800" y="2917053"/>
            <a:ext cx="5111496" cy="2724678"/>
          </a:xfrm>
          <a:prstGeom prst="rect">
            <a:avLst/>
          </a:prstGeom>
        </p:spPr>
      </p:pic>
      <p:sp>
        <p:nvSpPr>
          <p:cNvPr id="15" name="Shape 12"/>
          <p:cNvSpPr/>
          <p:nvPr/>
        </p:nvSpPr>
        <p:spPr>
          <a:xfrm>
            <a:off x="6208776" y="2057400"/>
            <a:ext cx="5477256" cy="4114800"/>
          </a:xfrm>
          <a:prstGeom prst="roundRect">
            <a:avLst>
              <a:gd name="adj" fmla="val 2222"/>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16" name="Shape 13"/>
          <p:cNvSpPr/>
          <p:nvPr/>
        </p:nvSpPr>
        <p:spPr>
          <a:xfrm>
            <a:off x="6391656" y="2212848"/>
            <a:ext cx="91440" cy="91440"/>
          </a:xfrm>
          <a:prstGeom prst="ellipse">
            <a:avLst/>
          </a:prstGeom>
          <a:solidFill>
            <a:srgbClr val="D64550"/>
          </a:solidFill>
          <a:ln/>
        </p:spPr>
      </p:sp>
      <p:sp>
        <p:nvSpPr>
          <p:cNvPr id="17" name="Shape 14"/>
          <p:cNvSpPr/>
          <p:nvPr/>
        </p:nvSpPr>
        <p:spPr>
          <a:xfrm>
            <a:off x="6565392" y="2212848"/>
            <a:ext cx="91440" cy="91440"/>
          </a:xfrm>
          <a:prstGeom prst="ellipse">
            <a:avLst/>
          </a:prstGeom>
          <a:solidFill>
            <a:srgbClr val="E8A33D"/>
          </a:solidFill>
          <a:ln/>
        </p:spPr>
      </p:sp>
      <p:sp>
        <p:nvSpPr>
          <p:cNvPr id="18" name="Shape 15"/>
          <p:cNvSpPr/>
          <p:nvPr/>
        </p:nvSpPr>
        <p:spPr>
          <a:xfrm>
            <a:off x="6739128" y="2212848"/>
            <a:ext cx="91440" cy="91440"/>
          </a:xfrm>
          <a:prstGeom prst="ellipse">
            <a:avLst/>
          </a:prstGeom>
          <a:solidFill>
            <a:srgbClr val="2E9E97"/>
          </a:solidFill>
          <a:ln/>
        </p:spPr>
      </p:sp>
      <p:sp>
        <p:nvSpPr>
          <p:cNvPr id="19" name="Text 16"/>
          <p:cNvSpPr/>
          <p:nvPr/>
        </p:nvSpPr>
        <p:spPr>
          <a:xfrm>
            <a:off x="6986016" y="2130552"/>
            <a:ext cx="4517136"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AI CV Grooming — Skill Gap &amp; Keywords</a:t>
            </a:r>
            <a:endParaRPr lang="en-US" sz="950" dirty="0"/>
          </a:p>
        </p:txBody>
      </p:sp>
      <p:sp>
        <p:nvSpPr>
          <p:cNvPr id="20" name="Shape 17"/>
          <p:cNvSpPr/>
          <p:nvPr/>
        </p:nvSpPr>
        <p:spPr>
          <a:xfrm>
            <a:off x="6373368" y="2441448"/>
            <a:ext cx="5148072" cy="0"/>
          </a:xfrm>
          <a:prstGeom prst="line">
            <a:avLst/>
          </a:prstGeom>
          <a:noFill/>
          <a:ln w="9525">
            <a:solidFill>
              <a:srgbClr val="DCE6E7"/>
            </a:solidFill>
            <a:prstDash val="solid"/>
          </a:ln>
        </p:spPr>
      </p:sp>
      <p:sp>
        <p:nvSpPr>
          <p:cNvPr id="21" name="Shape 18"/>
          <p:cNvSpPr/>
          <p:nvPr/>
        </p:nvSpPr>
        <p:spPr>
          <a:xfrm>
            <a:off x="6377940" y="2890139"/>
            <a:ext cx="5138928" cy="2778506"/>
          </a:xfrm>
          <a:prstGeom prst="rect">
            <a:avLst/>
          </a:prstGeom>
          <a:ln w="12700">
            <a:solidFill>
              <a:srgbClr val="DCE6E7"/>
            </a:solidFill>
            <a:prstDash val="solid"/>
          </a:ln>
        </p:spPr>
      </p:sp>
      <p:pic>
        <p:nvPicPr>
          <p:cNvPr id="22" name="Image 1" descr="/mnt/user-data/uploads/Screenshot_2026-08-09_191256.png"/>
          <p:cNvPicPr>
            <a:picLocks noChangeAspect="1"/>
          </p:cNvPicPr>
          <p:nvPr/>
        </p:nvPicPr>
        <p:blipFill>
          <a:blip r:embed="rId4"/>
          <a:stretch>
            <a:fillRect/>
          </a:stretch>
        </p:blipFill>
        <p:spPr>
          <a:xfrm>
            <a:off x="6391656" y="2903855"/>
            <a:ext cx="5111496" cy="27510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11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LIVE DEMO · 3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Verified Job Board</a:t>
            </a:r>
            <a:endParaRPr lang="en-US" sz="2800" dirty="0"/>
          </a:p>
        </p:txBody>
      </p:sp>
      <p:sp>
        <p:nvSpPr>
          <p:cNvPr id="6" name="Text 4"/>
          <p:cNvSpPr/>
          <p:nvPr/>
        </p:nvSpPr>
        <p:spPr>
          <a:xfrm>
            <a:off x="502920" y="1600200"/>
            <a:ext cx="3383280" cy="4572000"/>
          </a:xfrm>
          <a:prstGeom prst="rect">
            <a:avLst/>
          </a:prstGeom>
          <a:noFill/>
          <a:ln/>
        </p:spPr>
        <p:txBody>
          <a:bodyPr wrap="square" lIns="0" tIns="0" rIns="0" bIns="0" rtlCol="0" anchor="t"/>
          <a:lstStyle/>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Every listing carries an AI Trust Score (e.g. 99%) and a Match Fit % tailored to the viewer</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A Scam Prevention Protocol panel explains exactly how listings get verified against NSU’s recruiter registry</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"Post a Job as Alumnus (BDT 300)" is the first live piece of the monetization model</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38+ active roles already seeded, spanning Pathao, ByteScale Labs and other partner firms</a:t>
            </a:r>
            <a:endParaRPr lang="en-US" sz="1180" dirty="0"/>
          </a:p>
        </p:txBody>
      </p:sp>
      <p:sp>
        <p:nvSpPr>
          <p:cNvPr id="7" name="Shape 5"/>
          <p:cNvSpPr/>
          <p:nvPr/>
        </p:nvSpPr>
        <p:spPr>
          <a:xfrm>
            <a:off x="4114800" y="1600200"/>
            <a:ext cx="7573975" cy="4572000"/>
          </a:xfrm>
          <a:prstGeom prst="roundRect">
            <a:avLst>
              <a:gd name="adj" fmla="val 2000"/>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4297680" y="1755648"/>
            <a:ext cx="91440" cy="91440"/>
          </a:xfrm>
          <a:prstGeom prst="ellipse">
            <a:avLst/>
          </a:prstGeom>
          <a:solidFill>
            <a:srgbClr val="D64550"/>
          </a:solidFill>
          <a:ln/>
        </p:spPr>
      </p:sp>
      <p:sp>
        <p:nvSpPr>
          <p:cNvPr id="9" name="Shape 7"/>
          <p:cNvSpPr/>
          <p:nvPr/>
        </p:nvSpPr>
        <p:spPr>
          <a:xfrm>
            <a:off x="4471416" y="1755648"/>
            <a:ext cx="91440" cy="91440"/>
          </a:xfrm>
          <a:prstGeom prst="ellipse">
            <a:avLst/>
          </a:prstGeom>
          <a:solidFill>
            <a:srgbClr val="E8A33D"/>
          </a:solidFill>
          <a:ln/>
        </p:spPr>
      </p:sp>
      <p:sp>
        <p:nvSpPr>
          <p:cNvPr id="10" name="Shape 8"/>
          <p:cNvSpPr/>
          <p:nvPr/>
        </p:nvSpPr>
        <p:spPr>
          <a:xfrm>
            <a:off x="4645152" y="1755648"/>
            <a:ext cx="91440" cy="91440"/>
          </a:xfrm>
          <a:prstGeom prst="ellipse">
            <a:avLst/>
          </a:prstGeom>
          <a:solidFill>
            <a:srgbClr val="2E9E97"/>
          </a:solidFill>
          <a:ln/>
        </p:spPr>
      </p:sp>
      <p:sp>
        <p:nvSpPr>
          <p:cNvPr id="11" name="Text 9"/>
          <p:cNvSpPr/>
          <p:nvPr/>
        </p:nvSpPr>
        <p:spPr>
          <a:xfrm>
            <a:off x="4892040" y="1673352"/>
            <a:ext cx="6613855"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localhost:3000/jobs</a:t>
            </a:r>
            <a:endParaRPr lang="en-US" sz="950" dirty="0"/>
          </a:p>
        </p:txBody>
      </p:sp>
      <p:sp>
        <p:nvSpPr>
          <p:cNvPr id="12" name="Shape 10"/>
          <p:cNvSpPr/>
          <p:nvPr/>
        </p:nvSpPr>
        <p:spPr>
          <a:xfrm>
            <a:off x="4279392" y="1984248"/>
            <a:ext cx="7244791" cy="0"/>
          </a:xfrm>
          <a:prstGeom prst="line">
            <a:avLst/>
          </a:prstGeom>
          <a:noFill/>
          <a:ln w="9525">
            <a:solidFill>
              <a:srgbClr val="DCE6E7"/>
            </a:solidFill>
            <a:prstDash val="solid"/>
          </a:ln>
        </p:spPr>
      </p:sp>
      <p:sp>
        <p:nvSpPr>
          <p:cNvPr id="13" name="Shape 11"/>
          <p:cNvSpPr/>
          <p:nvPr/>
        </p:nvSpPr>
        <p:spPr>
          <a:xfrm>
            <a:off x="4283964" y="2104579"/>
            <a:ext cx="7235647" cy="3892427"/>
          </a:xfrm>
          <a:prstGeom prst="rect">
            <a:avLst/>
          </a:prstGeom>
          <a:ln w="12700">
            <a:solidFill>
              <a:srgbClr val="DCE6E7"/>
            </a:solidFill>
            <a:prstDash val="solid"/>
          </a:ln>
        </p:spPr>
      </p:sp>
      <p:pic>
        <p:nvPicPr>
          <p:cNvPr id="14" name="Image 0" descr="/mnt/user-data/uploads/Screenshot_2026-08-09_191325.png"/>
          <p:cNvPicPr>
            <a:picLocks noChangeAspect="1"/>
          </p:cNvPicPr>
          <p:nvPr/>
        </p:nvPicPr>
        <p:blipFill>
          <a:blip r:embed="rId3"/>
          <a:stretch>
            <a:fillRect/>
          </a:stretch>
        </p:blipFill>
        <p:spPr>
          <a:xfrm>
            <a:off x="4297680" y="2118295"/>
            <a:ext cx="7208215" cy="38649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12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LIVE DEMO · 4 OF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Onboarding &amp; Career Magazine</a:t>
            </a:r>
            <a:endParaRPr lang="en-US" sz="2800" dirty="0"/>
          </a:p>
        </p:txBody>
      </p:sp>
      <p:sp>
        <p:nvSpPr>
          <p:cNvPr id="6" name="Text 4"/>
          <p:cNvSpPr/>
          <p:nvPr/>
        </p:nvSpPr>
        <p:spPr>
          <a:xfrm>
            <a:off x="502920" y="1481328"/>
            <a:ext cx="11155680" cy="502920"/>
          </a:xfrm>
          <a:prstGeom prst="rect">
            <a:avLst/>
          </a:prstGeom>
          <a:noFill/>
          <a:ln/>
        </p:spPr>
        <p:txBody>
          <a:bodyPr wrap="square" lIns="0" tIns="0" rIns="0" bIns="0" rtlCol="0" anchor="ctr"/>
          <a:lstStyle/>
          <a:p>
            <a:pPr marL="0" indent="0">
              <a:lnSpc>
                <a:spcPct val="120000"/>
              </a:lnSpc>
              <a:buNone/>
            </a:pPr>
            <a:r>
              <a:rPr lang="en-US" sz="1250" i="1" dirty="0">
                <a:solidFill>
                  <a:srgbClr val="5C6B6D"/>
                </a:solidFill>
                <a:latin typeface="Calibri" pitchFamily="34" charset="0"/>
                <a:ea typeface="Calibri" pitchFamily="34" charset="-122"/>
                <a:cs typeface="Calibri" pitchFamily="34" charset="-120"/>
              </a:rPr>
              <a:t>New alumni sign up in seconds; employers can sponsor Career Magazine features (BDT 500) — monetization stream 2, now visible in the UI.</a:t>
            </a:r>
            <a:endParaRPr lang="en-US" sz="1250" dirty="0"/>
          </a:p>
        </p:txBody>
      </p:sp>
      <p:sp>
        <p:nvSpPr>
          <p:cNvPr id="7" name="Shape 5"/>
          <p:cNvSpPr/>
          <p:nvPr/>
        </p:nvSpPr>
        <p:spPr>
          <a:xfrm>
            <a:off x="502920" y="2057400"/>
            <a:ext cx="5477256" cy="4114800"/>
          </a:xfrm>
          <a:prstGeom prst="roundRect">
            <a:avLst>
              <a:gd name="adj" fmla="val 2222"/>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685800" y="2212848"/>
            <a:ext cx="91440" cy="91440"/>
          </a:xfrm>
          <a:prstGeom prst="ellipse">
            <a:avLst/>
          </a:prstGeom>
          <a:solidFill>
            <a:srgbClr val="D64550"/>
          </a:solidFill>
          <a:ln/>
        </p:spPr>
      </p:sp>
      <p:sp>
        <p:nvSpPr>
          <p:cNvPr id="9" name="Shape 7"/>
          <p:cNvSpPr/>
          <p:nvPr/>
        </p:nvSpPr>
        <p:spPr>
          <a:xfrm>
            <a:off x="859536" y="2212848"/>
            <a:ext cx="91440" cy="91440"/>
          </a:xfrm>
          <a:prstGeom prst="ellipse">
            <a:avLst/>
          </a:prstGeom>
          <a:solidFill>
            <a:srgbClr val="E8A33D"/>
          </a:solidFill>
          <a:ln/>
        </p:spPr>
      </p:sp>
      <p:sp>
        <p:nvSpPr>
          <p:cNvPr id="10" name="Shape 8"/>
          <p:cNvSpPr/>
          <p:nvPr/>
        </p:nvSpPr>
        <p:spPr>
          <a:xfrm>
            <a:off x="1033272" y="2212848"/>
            <a:ext cx="91440" cy="91440"/>
          </a:xfrm>
          <a:prstGeom prst="ellipse">
            <a:avLst/>
          </a:prstGeom>
          <a:solidFill>
            <a:srgbClr val="2E9E97"/>
          </a:solidFill>
          <a:ln/>
        </p:spPr>
      </p:sp>
      <p:sp>
        <p:nvSpPr>
          <p:cNvPr id="11" name="Text 9"/>
          <p:cNvSpPr/>
          <p:nvPr/>
        </p:nvSpPr>
        <p:spPr>
          <a:xfrm>
            <a:off x="1280160" y="2130552"/>
            <a:ext cx="4517136"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localhost:3000/signup</a:t>
            </a:r>
            <a:endParaRPr lang="en-US" sz="950" dirty="0"/>
          </a:p>
        </p:txBody>
      </p:sp>
      <p:sp>
        <p:nvSpPr>
          <p:cNvPr id="12" name="Shape 10"/>
          <p:cNvSpPr/>
          <p:nvPr/>
        </p:nvSpPr>
        <p:spPr>
          <a:xfrm>
            <a:off x="667512" y="2441448"/>
            <a:ext cx="5148072" cy="0"/>
          </a:xfrm>
          <a:prstGeom prst="line">
            <a:avLst/>
          </a:prstGeom>
          <a:noFill/>
          <a:ln w="9525">
            <a:solidFill>
              <a:srgbClr val="DCE6E7"/>
            </a:solidFill>
            <a:prstDash val="solid"/>
          </a:ln>
        </p:spPr>
      </p:sp>
      <p:sp>
        <p:nvSpPr>
          <p:cNvPr id="13" name="Shape 11"/>
          <p:cNvSpPr/>
          <p:nvPr/>
        </p:nvSpPr>
        <p:spPr>
          <a:xfrm>
            <a:off x="672084" y="2895302"/>
            <a:ext cx="5138928" cy="2768181"/>
          </a:xfrm>
          <a:prstGeom prst="rect">
            <a:avLst/>
          </a:prstGeom>
          <a:ln w="12700">
            <a:solidFill>
              <a:srgbClr val="DCE6E7"/>
            </a:solidFill>
            <a:prstDash val="solid"/>
          </a:ln>
        </p:spPr>
      </p:sp>
      <p:pic>
        <p:nvPicPr>
          <p:cNvPr id="14" name="Image 0" descr="/mnt/user-data/uploads/Screenshot_2026-08-09_190941.png"/>
          <p:cNvPicPr>
            <a:picLocks noChangeAspect="1"/>
          </p:cNvPicPr>
          <p:nvPr/>
        </p:nvPicPr>
        <p:blipFill>
          <a:blip r:embed="rId3"/>
          <a:stretch>
            <a:fillRect/>
          </a:stretch>
        </p:blipFill>
        <p:spPr>
          <a:xfrm>
            <a:off x="685800" y="2909018"/>
            <a:ext cx="5111496" cy="2740749"/>
          </a:xfrm>
          <a:prstGeom prst="rect">
            <a:avLst/>
          </a:prstGeom>
        </p:spPr>
      </p:pic>
      <p:sp>
        <p:nvSpPr>
          <p:cNvPr id="15" name="Shape 12"/>
          <p:cNvSpPr/>
          <p:nvPr/>
        </p:nvSpPr>
        <p:spPr>
          <a:xfrm>
            <a:off x="6208776" y="2057400"/>
            <a:ext cx="5477256" cy="4114800"/>
          </a:xfrm>
          <a:prstGeom prst="roundRect">
            <a:avLst>
              <a:gd name="adj" fmla="val 2222"/>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16" name="Shape 13"/>
          <p:cNvSpPr/>
          <p:nvPr/>
        </p:nvSpPr>
        <p:spPr>
          <a:xfrm>
            <a:off x="6391656" y="2212848"/>
            <a:ext cx="91440" cy="91440"/>
          </a:xfrm>
          <a:prstGeom prst="ellipse">
            <a:avLst/>
          </a:prstGeom>
          <a:solidFill>
            <a:srgbClr val="D64550"/>
          </a:solidFill>
          <a:ln/>
        </p:spPr>
      </p:sp>
      <p:sp>
        <p:nvSpPr>
          <p:cNvPr id="17" name="Shape 14"/>
          <p:cNvSpPr/>
          <p:nvPr/>
        </p:nvSpPr>
        <p:spPr>
          <a:xfrm>
            <a:off x="6565392" y="2212848"/>
            <a:ext cx="91440" cy="91440"/>
          </a:xfrm>
          <a:prstGeom prst="ellipse">
            <a:avLst/>
          </a:prstGeom>
          <a:solidFill>
            <a:srgbClr val="E8A33D"/>
          </a:solidFill>
          <a:ln/>
        </p:spPr>
      </p:sp>
      <p:sp>
        <p:nvSpPr>
          <p:cNvPr id="18" name="Shape 15"/>
          <p:cNvSpPr/>
          <p:nvPr/>
        </p:nvSpPr>
        <p:spPr>
          <a:xfrm>
            <a:off x="6739128" y="2212848"/>
            <a:ext cx="91440" cy="91440"/>
          </a:xfrm>
          <a:prstGeom prst="ellipse">
            <a:avLst/>
          </a:prstGeom>
          <a:solidFill>
            <a:srgbClr val="2E9E97"/>
          </a:solidFill>
          <a:ln/>
        </p:spPr>
      </p:sp>
      <p:sp>
        <p:nvSpPr>
          <p:cNvPr id="19" name="Text 16"/>
          <p:cNvSpPr/>
          <p:nvPr/>
        </p:nvSpPr>
        <p:spPr>
          <a:xfrm>
            <a:off x="6986016" y="2130552"/>
            <a:ext cx="4517136"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localhost:3000/magazine</a:t>
            </a:r>
            <a:endParaRPr lang="en-US" sz="950" dirty="0"/>
          </a:p>
        </p:txBody>
      </p:sp>
      <p:sp>
        <p:nvSpPr>
          <p:cNvPr id="20" name="Shape 17"/>
          <p:cNvSpPr/>
          <p:nvPr/>
        </p:nvSpPr>
        <p:spPr>
          <a:xfrm>
            <a:off x="6373368" y="2441448"/>
            <a:ext cx="5148072" cy="0"/>
          </a:xfrm>
          <a:prstGeom prst="line">
            <a:avLst/>
          </a:prstGeom>
          <a:noFill/>
          <a:ln w="9525">
            <a:solidFill>
              <a:srgbClr val="DCE6E7"/>
            </a:solidFill>
            <a:prstDash val="solid"/>
          </a:ln>
        </p:spPr>
      </p:sp>
      <p:sp>
        <p:nvSpPr>
          <p:cNvPr id="21" name="Shape 18"/>
          <p:cNvSpPr/>
          <p:nvPr/>
        </p:nvSpPr>
        <p:spPr>
          <a:xfrm>
            <a:off x="6377940" y="3025022"/>
            <a:ext cx="5138928" cy="2508741"/>
          </a:xfrm>
          <a:prstGeom prst="rect">
            <a:avLst/>
          </a:prstGeom>
          <a:ln w="12700">
            <a:solidFill>
              <a:srgbClr val="DCE6E7"/>
            </a:solidFill>
            <a:prstDash val="solid"/>
          </a:ln>
        </p:spPr>
      </p:sp>
      <p:pic>
        <p:nvPicPr>
          <p:cNvPr id="22" name="Image 1" descr="/mnt/user-data/uploads/Screenshot_2026-08-09_191019.png"/>
          <p:cNvPicPr>
            <a:picLocks noChangeAspect="1"/>
          </p:cNvPicPr>
          <p:nvPr/>
        </p:nvPicPr>
        <p:blipFill>
          <a:blip r:embed="rId4"/>
          <a:stretch>
            <a:fillRect/>
          </a:stretch>
        </p:blipFill>
        <p:spPr>
          <a:xfrm>
            <a:off x="6391656" y="3038738"/>
            <a:ext cx="5111496" cy="24813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13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COMMUNICATION REVIEW</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Team Communication — Slack</a:t>
            </a:r>
            <a:endParaRPr lang="en-US" sz="2800" dirty="0"/>
          </a:p>
        </p:txBody>
      </p:sp>
      <p:sp>
        <p:nvSpPr>
          <p:cNvPr id="6" name="Text 4"/>
          <p:cNvSpPr/>
          <p:nvPr/>
        </p:nvSpPr>
        <p:spPr>
          <a:xfrm>
            <a:off x="502920" y="1600200"/>
            <a:ext cx="4206240" cy="4572000"/>
          </a:xfrm>
          <a:prstGeom prst="rect">
            <a:avLst/>
          </a:prstGeom>
          <a:noFill/>
          <a:ln/>
        </p:spPr>
        <p:txBody>
          <a:bodyPr wrap="square" lIns="0" tIns="0" rIns="0" bIns="0" rtlCol="0" anchor="t"/>
          <a:lstStyle/>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Same Team Nexus / #299 thread carries the whole sprint’s coordination history</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Jul 26: Tahsin acknowledges the Sprint 2 → 3 handoff plan</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Aug 2: Jihan checks progress and asks for a review + PR before merging — the CI/CD pipeline auto-merges once checks pass</a:t>
            </a:r>
            <a:endParaRPr lang="en-US" sz="1180" dirty="0"/>
          </a:p>
          <a:p>
            <a:pPr marL="177800" indent="-177800">
              <a:lnSpc>
                <a:spcPct val="124000"/>
              </a:lnSpc>
              <a:spcAft>
                <a:spcPts val="1300"/>
              </a:spcAft>
              <a:buSzPct val="100000"/>
              <a:buChar char="▪"/>
            </a:pPr>
            <a:r>
              <a:rPr lang="en-US" sz="1180" dirty="0">
                <a:solidFill>
                  <a:srgbClr val="1C2B2D"/>
                </a:solidFill>
                <a:latin typeface="Calibri" pitchFamily="34" charset="0"/>
                <a:ea typeface="Calibri" pitchFamily="34" charset="-122"/>
                <a:cs typeface="Calibri" pitchFamily="34" charset="-120"/>
              </a:rPr>
              <a:t>Today: Jihan reports the frontend is essentially done and pivots the conversation to backend integration</a:t>
            </a:r>
            <a:endParaRPr lang="en-US" sz="1180" dirty="0"/>
          </a:p>
        </p:txBody>
      </p:sp>
      <p:sp>
        <p:nvSpPr>
          <p:cNvPr id="7" name="Shape 5"/>
          <p:cNvSpPr/>
          <p:nvPr/>
        </p:nvSpPr>
        <p:spPr>
          <a:xfrm>
            <a:off x="4937760" y="1600200"/>
            <a:ext cx="6751015" cy="4572000"/>
          </a:xfrm>
          <a:prstGeom prst="roundRect">
            <a:avLst>
              <a:gd name="adj" fmla="val 2000"/>
            </a:avLst>
          </a:prstGeom>
          <a:solidFill>
            <a:srgbClr val="FFFFFF"/>
          </a:solidFill>
          <a:ln w="12700">
            <a:solidFill>
              <a:srgbClr val="DCE6E7"/>
            </a:solidFill>
            <a:prstDash val="solid"/>
          </a:ln>
          <a:effectLst>
            <a:outerShdw blurRad="88900" dist="25400" dir="5400000" algn="bl" rotWithShape="0">
              <a:srgbClr val="1C2B2D">
                <a:alpha val="10000"/>
              </a:srgbClr>
            </a:outerShdw>
          </a:effectLst>
        </p:spPr>
      </p:sp>
      <p:sp>
        <p:nvSpPr>
          <p:cNvPr id="8" name="Shape 6"/>
          <p:cNvSpPr/>
          <p:nvPr/>
        </p:nvSpPr>
        <p:spPr>
          <a:xfrm>
            <a:off x="5120640" y="1755648"/>
            <a:ext cx="91440" cy="91440"/>
          </a:xfrm>
          <a:prstGeom prst="ellipse">
            <a:avLst/>
          </a:prstGeom>
          <a:solidFill>
            <a:srgbClr val="D64550"/>
          </a:solidFill>
          <a:ln/>
        </p:spPr>
      </p:sp>
      <p:sp>
        <p:nvSpPr>
          <p:cNvPr id="9" name="Shape 7"/>
          <p:cNvSpPr/>
          <p:nvPr/>
        </p:nvSpPr>
        <p:spPr>
          <a:xfrm>
            <a:off x="5294376" y="1755648"/>
            <a:ext cx="91440" cy="91440"/>
          </a:xfrm>
          <a:prstGeom prst="ellipse">
            <a:avLst/>
          </a:prstGeom>
          <a:solidFill>
            <a:srgbClr val="E8A33D"/>
          </a:solidFill>
          <a:ln/>
        </p:spPr>
      </p:sp>
      <p:sp>
        <p:nvSpPr>
          <p:cNvPr id="10" name="Shape 8"/>
          <p:cNvSpPr/>
          <p:nvPr/>
        </p:nvSpPr>
        <p:spPr>
          <a:xfrm>
            <a:off x="5468112" y="1755648"/>
            <a:ext cx="91440" cy="91440"/>
          </a:xfrm>
          <a:prstGeom prst="ellipse">
            <a:avLst/>
          </a:prstGeom>
          <a:solidFill>
            <a:srgbClr val="2E9E97"/>
          </a:solidFill>
          <a:ln/>
        </p:spPr>
      </p:sp>
      <p:sp>
        <p:nvSpPr>
          <p:cNvPr id="11" name="Text 9"/>
          <p:cNvSpPr/>
          <p:nvPr/>
        </p:nvSpPr>
        <p:spPr>
          <a:xfrm>
            <a:off x="5715000" y="1673352"/>
            <a:ext cx="5790895" cy="237744"/>
          </a:xfrm>
          <a:prstGeom prst="rect">
            <a:avLst/>
          </a:prstGeom>
          <a:noFill/>
          <a:ln/>
        </p:spPr>
        <p:txBody>
          <a:bodyPr wrap="square" lIns="0" tIns="0" rIns="0" bIns="0" rtlCol="0" anchor="ctr"/>
          <a:lstStyle/>
          <a:p>
            <a:pPr marL="0" indent="0">
              <a:buNone/>
            </a:pPr>
            <a:r>
              <a:rPr lang="en-US" sz="950" i="1" dirty="0">
                <a:solidFill>
                  <a:srgbClr val="5C6B6D"/>
                </a:solidFill>
                <a:latin typeface="Calibri" pitchFamily="34" charset="0"/>
                <a:ea typeface="Calibri" pitchFamily="34" charset="-122"/>
                <a:cs typeface="Calibri" pitchFamily="34" charset="-120"/>
              </a:rPr>
              <a:t>Slack — Team Nexus / #299</a:t>
            </a:r>
            <a:endParaRPr lang="en-US" sz="950" dirty="0"/>
          </a:p>
        </p:txBody>
      </p:sp>
      <p:sp>
        <p:nvSpPr>
          <p:cNvPr id="12" name="Shape 10"/>
          <p:cNvSpPr/>
          <p:nvPr/>
        </p:nvSpPr>
        <p:spPr>
          <a:xfrm>
            <a:off x="5102352" y="1984248"/>
            <a:ext cx="6421831" cy="0"/>
          </a:xfrm>
          <a:prstGeom prst="line">
            <a:avLst/>
          </a:prstGeom>
          <a:noFill/>
          <a:ln w="9525">
            <a:solidFill>
              <a:srgbClr val="DCE6E7"/>
            </a:solidFill>
            <a:prstDash val="solid"/>
          </a:ln>
        </p:spPr>
      </p:sp>
      <p:sp>
        <p:nvSpPr>
          <p:cNvPr id="13" name="Shape 11"/>
          <p:cNvSpPr/>
          <p:nvPr/>
        </p:nvSpPr>
        <p:spPr>
          <a:xfrm>
            <a:off x="5342803" y="2080260"/>
            <a:ext cx="5940930" cy="3941064"/>
          </a:xfrm>
          <a:prstGeom prst="rect">
            <a:avLst/>
          </a:prstGeom>
          <a:ln w="12700">
            <a:solidFill>
              <a:srgbClr val="DCE6E7"/>
            </a:solidFill>
            <a:prstDash val="solid"/>
          </a:ln>
        </p:spPr>
      </p:sp>
      <p:pic>
        <p:nvPicPr>
          <p:cNvPr id="14" name="Image 0" descr="/mnt/user-data/uploads/Screenshot_2026-08-09_185829.png"/>
          <p:cNvPicPr>
            <a:picLocks noChangeAspect="1"/>
          </p:cNvPicPr>
          <p:nvPr/>
        </p:nvPicPr>
        <p:blipFill>
          <a:blip r:embed="rId3"/>
          <a:stretch>
            <a:fillRect/>
          </a:stretch>
        </p:blipFill>
        <p:spPr>
          <a:xfrm>
            <a:off x="5356519" y="2093976"/>
            <a:ext cx="5913498" cy="3913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14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RISK MANAGEMENT</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Risks &amp; Issues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55680" cy="4023360"/>
        </p:xfrm>
        <a:graphic>
          <a:graphicData uri="http://schemas.openxmlformats.org/drawingml/2006/table">
            <a:tbl>
              <a:tblPr/>
              <a:tblGrid>
                <a:gridCol w="35661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8046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0B3D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Likelihood</a:t>
                      </a:r>
                      <a:endParaRPr lang="en-US" sz="120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0B3D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0B3D45"/>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0B3D45"/>
                    </a:solidFill>
                  </a:tcPr>
                </a:tc>
                <a:extLst>
                  <a:ext uri="{0D108BD9-81ED-4DB2-BD59-A6C34878D82A}">
                    <a16:rowId xmlns:a16="http://schemas.microsoft.com/office/drawing/2014/main" val="10000"/>
                  </a:ext>
                </a:extLst>
              </a:tr>
              <a:tr h="804672">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Sprint duration doubled from the planned 1 week to 2</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tc>
                  <a:txBody>
                    <a:bodyPr/>
                    <a:lstStyle/>
                    <a:p>
                      <a:pPr marL="0" indent="0" algn="ctr">
                        <a:buNone/>
                      </a:pPr>
                      <a:r>
                        <a:rPr lang="en-US" sz="1130" b="1" dirty="0">
                          <a:solidFill>
                            <a:srgbClr val="E8A33D"/>
                          </a:solidFill>
                          <a:latin typeface="Calibri" pitchFamily="34" charset="0"/>
                          <a:ea typeface="Calibri" pitchFamily="34" charset="-122"/>
                          <a:cs typeface="Calibri" pitchFamily="34" charset="-120"/>
                        </a:rPr>
                        <a:t>Medium</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tc>
                  <a:txBody>
                    <a:bodyPr/>
                    <a:lstStyle/>
                    <a:p>
                      <a:pPr marL="0" indent="0" algn="ctr">
                        <a:buNone/>
                      </a:pPr>
                      <a:r>
                        <a:rPr lang="en-US" sz="1130" b="1" dirty="0">
                          <a:solidFill>
                            <a:srgbClr val="E8A33D"/>
                          </a:solidFill>
                          <a:latin typeface="Calibri" pitchFamily="34" charset="0"/>
                          <a:ea typeface="Calibri" pitchFamily="34" charset="-122"/>
                          <a:cs typeface="Calibri" pitchFamily="34" charset="-120"/>
                        </a:rPr>
                        <a:t>Medium</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Sprint 4 is scoped tighter, with daily backend check-ins to avoid a repeat</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4672">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Frontend currently runs entirely on mock data, not a live backend</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tc>
                  <a:txBody>
                    <a:bodyPr/>
                    <a:lstStyle/>
                    <a:p>
                      <a:pPr marL="0" indent="0" algn="ctr">
                        <a:buNone/>
                      </a:pPr>
                      <a:r>
                        <a:rPr lang="en-US" sz="1130" b="1" dirty="0">
                          <a:solidFill>
                            <a:srgbClr val="D64550"/>
                          </a:solidFill>
                          <a:latin typeface="Calibri" pitchFamily="34" charset="0"/>
                          <a:ea typeface="Calibri" pitchFamily="34" charset="-122"/>
                          <a:cs typeface="Calibri" pitchFamily="34" charset="-120"/>
                        </a:rPr>
                        <a:t>High</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tc>
                  <a:txBody>
                    <a:bodyPr/>
                    <a:lstStyle/>
                    <a:p>
                      <a:pPr marL="0" indent="0" algn="ctr">
                        <a:buNone/>
                      </a:pPr>
                      <a:r>
                        <a:rPr lang="en-US" sz="1130" b="1" dirty="0">
                          <a:solidFill>
                            <a:srgbClr val="D64550"/>
                          </a:solidFill>
                          <a:latin typeface="Calibri" pitchFamily="34" charset="0"/>
                          <a:ea typeface="Calibri" pitchFamily="34" charset="-122"/>
                          <a:cs typeface="Calibri" pitchFamily="34" charset="-120"/>
                        </a:rPr>
                        <a:t>High</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Sprint 4 is explicitly scoped to wire FastAPI/Node.js + PostgreSQL/Redis into every page</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extLst>
                  <a:ext uri="{0D108BD9-81ED-4DB2-BD59-A6C34878D82A}">
                    <a16:rowId xmlns:a16="http://schemas.microsoft.com/office/drawing/2014/main" val="10002"/>
                  </a:ext>
                </a:extLst>
              </a:tr>
              <a:tr h="804672">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Academic exams have now delayed two sprints in a row</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tc>
                  <a:txBody>
                    <a:bodyPr/>
                    <a:lstStyle/>
                    <a:p>
                      <a:pPr marL="0" indent="0" algn="ctr">
                        <a:buNone/>
                      </a:pPr>
                      <a:r>
                        <a:rPr lang="en-US" sz="1130" b="1" dirty="0">
                          <a:solidFill>
                            <a:srgbClr val="D64550"/>
                          </a:solidFill>
                          <a:latin typeface="Calibri" pitchFamily="34" charset="0"/>
                          <a:ea typeface="Calibri" pitchFamily="34" charset="-122"/>
                          <a:cs typeface="Calibri" pitchFamily="34" charset="-120"/>
                        </a:rPr>
                        <a:t>High</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tc>
                  <a:txBody>
                    <a:bodyPr/>
                    <a:lstStyle/>
                    <a:p>
                      <a:pPr marL="0" indent="0" algn="ctr">
                        <a:buNone/>
                      </a:pPr>
                      <a:r>
                        <a:rPr lang="en-US" sz="1130" b="1" dirty="0">
                          <a:solidFill>
                            <a:srgbClr val="E8A33D"/>
                          </a:solidFill>
                          <a:latin typeface="Calibri" pitchFamily="34" charset="0"/>
                          <a:ea typeface="Calibri" pitchFamily="34" charset="-122"/>
                          <a:cs typeface="Calibri" pitchFamily="34" charset="-120"/>
                        </a:rPr>
                        <a:t>Medium</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Sprint 4 is marked High priority; both members are syncing daily via Slack to protect the timeline</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4672">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Only the lead has authored commits to the codebase so far</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tc>
                  <a:txBody>
                    <a:bodyPr/>
                    <a:lstStyle/>
                    <a:p>
                      <a:pPr marL="0" indent="0" algn="ctr">
                        <a:buNone/>
                      </a:pPr>
                      <a:r>
                        <a:rPr lang="en-US" sz="1130" b="1" dirty="0">
                          <a:solidFill>
                            <a:srgbClr val="E8A33D"/>
                          </a:solidFill>
                          <a:latin typeface="Calibri" pitchFamily="34" charset="0"/>
                          <a:ea typeface="Calibri" pitchFamily="34" charset="-122"/>
                          <a:cs typeface="Calibri" pitchFamily="34" charset="-120"/>
                        </a:rPr>
                        <a:t>Medium</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tc>
                  <a:txBody>
                    <a:bodyPr/>
                    <a:lstStyle/>
                    <a:p>
                      <a:pPr marL="0" indent="0" algn="ctr">
                        <a:buNone/>
                      </a:pPr>
                      <a:r>
                        <a:rPr lang="en-US" sz="1130" b="1" dirty="0">
                          <a:solidFill>
                            <a:srgbClr val="E8A33D"/>
                          </a:solidFill>
                          <a:latin typeface="Calibri" pitchFamily="34" charset="0"/>
                          <a:ea typeface="Calibri" pitchFamily="34" charset="-122"/>
                          <a:cs typeface="Calibri" pitchFamily="34" charset="-120"/>
                        </a:rPr>
                        <a:t>Medium</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tc>
                  <a:txBody>
                    <a:bodyPr/>
                    <a:lstStyle/>
                    <a:p>
                      <a:pPr marL="0" indent="0" algn="l">
                        <a:buNone/>
                      </a:pPr>
                      <a:r>
                        <a:rPr lang="en-US" sz="1130" dirty="0">
                          <a:solidFill>
                            <a:srgbClr val="1C2B2D"/>
                          </a:solidFill>
                          <a:latin typeface="Calibri" pitchFamily="34" charset="0"/>
                          <a:ea typeface="Calibri" pitchFamily="34" charset="-122"/>
                          <a:cs typeface="Calibri" pitchFamily="34" charset="-120"/>
                        </a:rPr>
                        <a:t>Sprint 4 explicitly assigns Tahsin to backend integration work, bringing a second active contributor</a:t>
                      </a:r>
                      <a:endParaRPr lang="en-US" sz="1130" dirty="0">
                        <a:latin typeface="Calibri" charset="0"/>
                        <a:ea typeface="Calibri" charset="0"/>
                        <a:cs typeface="Calibri" charset="0"/>
                      </a:endParaRPr>
                    </a:p>
                  </a:txBody>
                  <a:tcPr anchor="ctr">
                    <a:lnL w="9525" cap="flat" cmpd="sng" algn="ctr">
                      <a:solidFill>
                        <a:srgbClr val="DCE6E7"/>
                      </a:solidFill>
                      <a:prstDash val="solid"/>
                      <a:round/>
                      <a:headEnd type="none" w="med" len="med"/>
                      <a:tailEnd type="none" w="med" len="med"/>
                    </a:lnL>
                    <a:lnR w="9525" cap="flat" cmpd="sng" algn="ctr">
                      <a:solidFill>
                        <a:srgbClr val="DCE6E7"/>
                      </a:solidFill>
                      <a:prstDash val="solid"/>
                      <a:round/>
                      <a:headEnd type="none" w="med" len="med"/>
                      <a:tailEnd type="none" w="med" len="med"/>
                    </a:lnR>
                    <a:lnT w="9525" cap="flat" cmpd="sng" algn="ctr">
                      <a:solidFill>
                        <a:srgbClr val="DCE6E7"/>
                      </a:solidFill>
                      <a:prstDash val="solid"/>
                      <a:round/>
                      <a:headEnd type="none" w="med" len="med"/>
                      <a:tailEnd type="none" w="med" len="med"/>
                    </a:lnT>
                    <a:lnB w="9525" cap="flat" cmpd="sng" algn="ctr">
                      <a:solidFill>
                        <a:srgbClr val="DCE6E7"/>
                      </a:solidFill>
                      <a:prstDash val="solid"/>
                      <a:round/>
                      <a:headEnd type="none" w="med" len="med"/>
                      <a:tailEnd type="none" w="med" len="med"/>
                    </a:lnB>
                    <a:solidFill>
                      <a:srgbClr val="E8F3F4"/>
                    </a:solidFill>
                  </a:tcPr>
                </a:tc>
                <a:extLst>
                  <a:ext uri="{0D108BD9-81ED-4DB2-BD59-A6C34878D82A}">
                    <a16:rowId xmlns:a16="http://schemas.microsoft.com/office/drawing/2014/main" val="10004"/>
                  </a:ext>
                </a:extLst>
              </a:tr>
            </a:tbl>
          </a:graphicData>
        </a:graphic>
      </p:graphicFrame>
      <p:sp>
        <p:nvSpPr>
          <p:cNvPr id="7" name="Text 4"/>
          <p:cNvSpPr/>
          <p:nvPr/>
        </p:nvSpPr>
        <p:spPr>
          <a:xfrm>
            <a:off x="502920" y="5806440"/>
            <a:ext cx="11155680" cy="365760"/>
          </a:xfrm>
          <a:prstGeom prst="rect">
            <a:avLst/>
          </a:prstGeom>
          <a:noFill/>
          <a:ln/>
        </p:spPr>
        <p:txBody>
          <a:bodyPr wrap="square" lIns="0" tIns="0" rIns="0" bIns="0" rtlCol="0" anchor="ctr"/>
          <a:lstStyle/>
          <a:p>
            <a:pPr marL="0" indent="0">
              <a:buNone/>
            </a:pPr>
            <a:r>
              <a:rPr lang="en-US" sz="1050" i="1" dirty="0">
                <a:solidFill>
                  <a:srgbClr val="5C6B6D"/>
                </a:solidFill>
                <a:latin typeface="Calibri" pitchFamily="34" charset="0"/>
                <a:ea typeface="Calibri" pitchFamily="34" charset="-122"/>
                <a:cs typeface="Calibri" pitchFamily="34" charset="-120"/>
              </a:rPr>
              <a:t>Two risks carried over from last week (single contributor, exam overlap) are still open — tracked, not hidden.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15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RETROSPECTIVE</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What Went Well, What We’re Improving</a:t>
            </a:r>
            <a:endParaRPr lang="en-US" sz="2800" dirty="0"/>
          </a:p>
        </p:txBody>
      </p:sp>
      <p:sp>
        <p:nvSpPr>
          <p:cNvPr id="6" name="Shape 4"/>
          <p:cNvSpPr/>
          <p:nvPr/>
        </p:nvSpPr>
        <p:spPr>
          <a:xfrm>
            <a:off x="502920" y="1645920"/>
            <a:ext cx="5440680" cy="3611880"/>
          </a:xfrm>
          <a:prstGeom prst="roundRect">
            <a:avLst>
              <a:gd name="adj" fmla="val 2532"/>
            </a:avLst>
          </a:prstGeom>
          <a:solidFill>
            <a:srgbClr val="E8F3F4"/>
          </a:solidFill>
          <a:ln w="12700">
            <a:solidFill>
              <a:srgbClr val="E8F3F4"/>
            </a:solidFill>
            <a:prstDash val="solid"/>
          </a:ln>
          <a:effectLst>
            <a:outerShdw blurRad="88900" dist="25400" dir="5400000" algn="bl" rotWithShape="0">
              <a:srgbClr val="1C2B2D">
                <a:alpha val="10000"/>
              </a:srgbClr>
            </a:outerShdw>
          </a:effectLst>
        </p:spPr>
      </p:sp>
      <p:sp>
        <p:nvSpPr>
          <p:cNvPr id="7" name="Shape 5"/>
          <p:cNvSpPr/>
          <p:nvPr/>
        </p:nvSpPr>
        <p:spPr>
          <a:xfrm>
            <a:off x="740664" y="1865376"/>
            <a:ext cx="502920" cy="502920"/>
          </a:xfrm>
          <a:prstGeom prst="ellipse">
            <a:avLst/>
          </a:prstGeom>
          <a:solidFill>
            <a:srgbClr val="2E9E97"/>
          </a:solidFill>
          <a:ln/>
        </p:spPr>
      </p:sp>
      <p:pic>
        <p:nvPicPr>
          <p:cNvPr id="8" name="Image 0" descr="/home/claude/sprint3/icons/circleCheck.png"/>
          <p:cNvPicPr>
            <a:picLocks noChangeAspect="1"/>
          </p:cNvPicPr>
          <p:nvPr/>
        </p:nvPicPr>
        <p:blipFill>
          <a:blip r:embed="rId3"/>
          <a:stretch>
            <a:fillRect/>
          </a:stretch>
        </p:blipFill>
        <p:spPr>
          <a:xfrm>
            <a:off x="861365" y="1986077"/>
            <a:ext cx="261518" cy="261518"/>
          </a:xfrm>
          <a:prstGeom prst="rect">
            <a:avLst/>
          </a:prstGeom>
        </p:spPr>
      </p:pic>
      <p:sp>
        <p:nvSpPr>
          <p:cNvPr id="9" name="Text 6"/>
          <p:cNvSpPr/>
          <p:nvPr/>
        </p:nvSpPr>
        <p:spPr>
          <a:xfrm>
            <a:off x="1371600" y="1956816"/>
            <a:ext cx="4343400" cy="320040"/>
          </a:xfrm>
          <a:prstGeom prst="rect">
            <a:avLst/>
          </a:prstGeom>
          <a:noFill/>
          <a:ln/>
        </p:spPr>
        <p:txBody>
          <a:bodyPr wrap="square" lIns="0" tIns="0" rIns="0" bIns="0" rtlCol="0" anchor="ctr"/>
          <a:lstStyle/>
          <a:p>
            <a:pPr marL="0" indent="0">
              <a:buNone/>
            </a:pPr>
            <a:r>
              <a:rPr lang="en-US" sz="1350" b="1" dirty="0">
                <a:solidFill>
                  <a:srgbClr val="1C2B2D"/>
                </a:solidFill>
                <a:latin typeface="Calibri" pitchFamily="34" charset="0"/>
                <a:ea typeface="Calibri" pitchFamily="34" charset="-122"/>
                <a:cs typeface="Calibri" pitchFamily="34" charset="-120"/>
              </a:rPr>
              <a:t>WENT WELL</a:t>
            </a:r>
            <a:endParaRPr lang="en-US" sz="1350" dirty="0"/>
          </a:p>
        </p:txBody>
      </p:sp>
      <p:sp>
        <p:nvSpPr>
          <p:cNvPr id="10" name="Text 7"/>
          <p:cNvSpPr/>
          <p:nvPr/>
        </p:nvSpPr>
        <p:spPr>
          <a:xfrm>
            <a:off x="758952" y="2560320"/>
            <a:ext cx="4928616" cy="2560320"/>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All 10 planned pages shipped: Home, CV Grooming, Alumni Directory, Jobs, Employer, Magazine, Admin, Insights, Dashboard, Profile</a:t>
            </a:r>
            <a:endParaRPr lang="en-US" sz="1120" dirty="0"/>
          </a:p>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One consistent glassmorphism design system across every single page</a:t>
            </a:r>
            <a:endParaRPr lang="en-US" sz="1120" dirty="0"/>
          </a:p>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All 3 AI/Trust pillars from the proposal are now visible and interactive: Trust Badge, Blockchain modal, AI CV Grooming</a:t>
            </a:r>
            <a:endParaRPr lang="en-US" sz="1120" dirty="0"/>
          </a:p>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Monetization UI is already in place: BDT 300 job posts, BDT 500 sponsored articles</a:t>
            </a:r>
            <a:endParaRPr lang="en-US" sz="1120" dirty="0"/>
          </a:p>
        </p:txBody>
      </p:sp>
      <p:sp>
        <p:nvSpPr>
          <p:cNvPr id="11" name="Shape 8"/>
          <p:cNvSpPr/>
          <p:nvPr/>
        </p:nvSpPr>
        <p:spPr>
          <a:xfrm>
            <a:off x="6199632" y="1645920"/>
            <a:ext cx="5440680" cy="3611880"/>
          </a:xfrm>
          <a:prstGeom prst="roundRect">
            <a:avLst>
              <a:gd name="adj" fmla="val 2532"/>
            </a:avLst>
          </a:prstGeom>
          <a:solidFill>
            <a:srgbClr val="FCF1DD"/>
          </a:solidFill>
          <a:ln w="12700">
            <a:solidFill>
              <a:srgbClr val="FCF1DD"/>
            </a:solidFill>
            <a:prstDash val="solid"/>
          </a:ln>
          <a:effectLst>
            <a:outerShdw blurRad="88900" dist="25400" dir="5400000" algn="bl" rotWithShape="0">
              <a:srgbClr val="1C2B2D">
                <a:alpha val="10000"/>
              </a:srgbClr>
            </a:outerShdw>
          </a:effectLst>
        </p:spPr>
      </p:sp>
      <p:sp>
        <p:nvSpPr>
          <p:cNvPr id="12" name="Shape 9"/>
          <p:cNvSpPr/>
          <p:nvPr/>
        </p:nvSpPr>
        <p:spPr>
          <a:xfrm>
            <a:off x="6437376" y="1865376"/>
            <a:ext cx="502920" cy="502920"/>
          </a:xfrm>
          <a:prstGeom prst="ellipse">
            <a:avLst/>
          </a:prstGeom>
          <a:solidFill>
            <a:srgbClr val="E8A33D"/>
          </a:solidFill>
          <a:ln/>
        </p:spPr>
      </p:sp>
      <p:pic>
        <p:nvPicPr>
          <p:cNvPr id="13" name="Image 1" descr="/home/claude/sprint3/icons/lightbulb.png"/>
          <p:cNvPicPr>
            <a:picLocks noChangeAspect="1"/>
          </p:cNvPicPr>
          <p:nvPr/>
        </p:nvPicPr>
        <p:blipFill>
          <a:blip r:embed="rId4"/>
          <a:stretch>
            <a:fillRect/>
          </a:stretch>
        </p:blipFill>
        <p:spPr>
          <a:xfrm>
            <a:off x="6558077" y="1986077"/>
            <a:ext cx="261518" cy="261518"/>
          </a:xfrm>
          <a:prstGeom prst="rect">
            <a:avLst/>
          </a:prstGeom>
        </p:spPr>
      </p:pic>
      <p:sp>
        <p:nvSpPr>
          <p:cNvPr id="14" name="Text 10"/>
          <p:cNvSpPr/>
          <p:nvPr/>
        </p:nvSpPr>
        <p:spPr>
          <a:xfrm>
            <a:off x="7068312" y="1956816"/>
            <a:ext cx="4343400" cy="320040"/>
          </a:xfrm>
          <a:prstGeom prst="rect">
            <a:avLst/>
          </a:prstGeom>
          <a:noFill/>
          <a:ln/>
        </p:spPr>
        <p:txBody>
          <a:bodyPr wrap="square" lIns="0" tIns="0" rIns="0" bIns="0" rtlCol="0" anchor="ctr"/>
          <a:lstStyle/>
          <a:p>
            <a:pPr marL="0" indent="0">
              <a:buNone/>
            </a:pPr>
            <a:r>
              <a:rPr lang="en-US" sz="1350" b="1" dirty="0">
                <a:solidFill>
                  <a:srgbClr val="1C2B2D"/>
                </a:solidFill>
                <a:latin typeface="Calibri" pitchFamily="34" charset="0"/>
                <a:ea typeface="Calibri" pitchFamily="34" charset="-122"/>
                <a:cs typeface="Calibri" pitchFamily="34" charset="-120"/>
              </a:rPr>
              <a:t>TO IMPROVE</a:t>
            </a:r>
            <a:endParaRPr lang="en-US" sz="1350" dirty="0"/>
          </a:p>
        </p:txBody>
      </p:sp>
      <p:sp>
        <p:nvSpPr>
          <p:cNvPr id="15" name="Text 11"/>
          <p:cNvSpPr/>
          <p:nvPr/>
        </p:nvSpPr>
        <p:spPr>
          <a:xfrm>
            <a:off x="6455664" y="2560320"/>
            <a:ext cx="4928616" cy="2560320"/>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Still running on mock data — real backend integration is now the critical path</a:t>
            </a:r>
            <a:endParaRPr lang="en-US" sz="1120" dirty="0"/>
          </a:p>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Sprint slipped from 1 week to 2 — tighter scoping needed for Sprint 4</a:t>
            </a:r>
            <a:endParaRPr lang="en-US" sz="1120" dirty="0"/>
          </a:p>
          <a:p>
            <a:pPr marL="177800" indent="-177800">
              <a:lnSpc>
                <a:spcPct val="120000"/>
              </a:lnSpc>
              <a:spcAft>
                <a:spcPts val="1100"/>
              </a:spcAft>
              <a:buSzPct val="100000"/>
              <a:buChar char="▪"/>
            </a:pPr>
            <a:r>
              <a:rPr lang="en-US" sz="1120" dirty="0">
                <a:solidFill>
                  <a:srgbClr val="1C2B2D"/>
                </a:solidFill>
                <a:latin typeface="Calibri" pitchFamily="34" charset="0"/>
                <a:ea typeface="Calibri" pitchFamily="34" charset="-122"/>
                <a:cs typeface="Calibri" pitchFamily="34" charset="-120"/>
              </a:rPr>
              <a:t>Get Tahsin actively committing code — currently 1 contributor on the repo</a:t>
            </a:r>
            <a:endParaRPr lang="en-US" sz="1120" dirty="0"/>
          </a:p>
        </p:txBody>
      </p:sp>
      <p:sp>
        <p:nvSpPr>
          <p:cNvPr id="16" name="Shape 12"/>
          <p:cNvSpPr/>
          <p:nvPr/>
        </p:nvSpPr>
        <p:spPr>
          <a:xfrm>
            <a:off x="502920" y="5486400"/>
            <a:ext cx="11155680" cy="777240"/>
          </a:xfrm>
          <a:prstGeom prst="roundRect">
            <a:avLst>
              <a:gd name="adj" fmla="val 11765"/>
            </a:avLst>
          </a:prstGeom>
          <a:solidFill>
            <a:srgbClr val="0B3D45"/>
          </a:solidFill>
          <a:ln w="12700">
            <a:solidFill>
              <a:srgbClr val="0B3D45"/>
            </a:solidFill>
            <a:prstDash val="solid"/>
          </a:ln>
        </p:spPr>
      </p:sp>
      <p:sp>
        <p:nvSpPr>
          <p:cNvPr id="17" name="Text 13"/>
          <p:cNvSpPr/>
          <p:nvPr/>
        </p:nvSpPr>
        <p:spPr>
          <a:xfrm>
            <a:off x="777240" y="5486400"/>
            <a:ext cx="1463040" cy="777240"/>
          </a:xfrm>
          <a:prstGeom prst="rect">
            <a:avLst/>
          </a:prstGeom>
          <a:noFill/>
          <a:ln/>
        </p:spPr>
        <p:txBody>
          <a:bodyPr wrap="square" lIns="0" tIns="0" rIns="0" bIns="0"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100%</a:t>
            </a:r>
            <a:endParaRPr lang="en-US" sz="3000" dirty="0"/>
          </a:p>
        </p:txBody>
      </p:sp>
      <p:sp>
        <p:nvSpPr>
          <p:cNvPr id="18" name="Text 14"/>
          <p:cNvSpPr/>
          <p:nvPr/>
        </p:nvSpPr>
        <p:spPr>
          <a:xfrm>
            <a:off x="2286000" y="5486400"/>
            <a:ext cx="9052560" cy="777240"/>
          </a:xfrm>
          <a:prstGeom prst="rect">
            <a:avLst/>
          </a:prstGeom>
          <a:noFill/>
          <a:ln/>
        </p:spPr>
        <p:txBody>
          <a:bodyPr wrap="square" lIns="0" tIns="0" rIns="0" bIns="0" rtlCol="0" anchor="ctr"/>
          <a:lstStyle/>
          <a:p>
            <a:pPr marL="0" indent="0">
              <a:lnSpc>
                <a:spcPct val="120000"/>
              </a:lnSpc>
              <a:buNone/>
            </a:pPr>
            <a:r>
              <a:rPr lang="en-US" sz="1300" i="1" dirty="0">
                <a:solidFill>
                  <a:srgbClr val="FFFFFF"/>
                </a:solidFill>
                <a:latin typeface="Calibri" pitchFamily="34" charset="0"/>
                <a:ea typeface="Calibri" pitchFamily="34" charset="-122"/>
                <a:cs typeface="Calibri" pitchFamily="34" charset="-120"/>
              </a:rPr>
              <a:t>Sprint 3 completion — a full 10-page frontend shipped and verified running on main.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10957255" y="6492240"/>
            <a:ext cx="914400" cy="256032"/>
          </a:xfrm>
          <a:prstGeom prst="rect">
            <a:avLst/>
          </a:prstGeom>
          <a:noFill/>
          <a:ln/>
        </p:spPr>
        <p:txBody>
          <a:bodyPr wrap="square" lIns="0" tIns="0" rIns="0" bIns="0" rtlCol="0" anchor="ctr"/>
          <a:lstStyle/>
          <a:p>
            <a:pPr marL="0" indent="0" algn="r">
              <a:buNone/>
            </a:pPr>
            <a:r>
              <a:rPr lang="en-US" sz="900" dirty="0">
                <a:solidFill>
                  <a:srgbClr val="5C6B6D"/>
                </a:solidFill>
                <a:latin typeface="Calibri" pitchFamily="34" charset="0"/>
                <a:ea typeface="Calibri" pitchFamily="34" charset="-122"/>
                <a:cs typeface="Calibri" pitchFamily="34" charset="-120"/>
              </a:rPr>
              <a:t>16 / 17</a:t>
            </a:r>
            <a:endParaRPr lang="en-US" sz="900" dirty="0"/>
          </a:p>
        </p:txBody>
      </p:sp>
      <p:sp>
        <p:nvSpPr>
          <p:cNvPr id="3" name="Text 1"/>
          <p:cNvSpPr/>
          <p:nvPr/>
        </p:nvSpPr>
        <p:spPr>
          <a:xfrm>
            <a:off x="502920" y="6492240"/>
            <a:ext cx="6400800" cy="256032"/>
          </a:xfrm>
          <a:prstGeom prst="rect">
            <a:avLst/>
          </a:prstGeom>
          <a:noFill/>
          <a:ln/>
        </p:spPr>
        <p:txBody>
          <a:bodyPr wrap="square" lIns="0" tIns="0" rIns="0" bIns="0" rtlCol="0" anchor="ctr"/>
          <a:lstStyle/>
          <a:p>
            <a:pPr marL="0" indent="0">
              <a:buNone/>
            </a:pPr>
            <a:r>
              <a:rPr lang="en-US" sz="900" dirty="0">
                <a:solidFill>
                  <a:srgbClr val="5C6B6D"/>
                </a:solidFill>
                <a:latin typeface="Calibri" pitchFamily="34" charset="0"/>
                <a:ea typeface="Calibri" pitchFamily="34" charset="-122"/>
                <a:cs typeface="Calibri" pitchFamily="34" charset="-120"/>
              </a:rPr>
              <a:t>CareerSetu  |  Sprint 3 Weekly Review  |  CSE299 Sec.10</a:t>
            </a:r>
            <a:endParaRPr lang="en-US" sz="900" dirty="0"/>
          </a:p>
        </p:txBody>
      </p:sp>
      <p:sp>
        <p:nvSpPr>
          <p:cNvPr id="4" name="Text 2"/>
          <p:cNvSpPr/>
          <p:nvPr/>
        </p:nvSpPr>
        <p:spPr>
          <a:xfrm>
            <a:off x="502920" y="384048"/>
            <a:ext cx="10515600" cy="274320"/>
          </a:xfrm>
          <a:prstGeom prst="rect">
            <a:avLst/>
          </a:prstGeom>
          <a:noFill/>
          <a:ln/>
        </p:spPr>
        <p:txBody>
          <a:bodyPr wrap="square" lIns="0" tIns="0" rIns="0" bIns="0" rtlCol="0" anchor="ctr"/>
          <a:lstStyle/>
          <a:p>
            <a:pPr marL="0" indent="0">
              <a:buNone/>
            </a:pPr>
            <a:r>
              <a:rPr lang="en-US" sz="1150" b="1" kern="0" spc="200" dirty="0">
                <a:solidFill>
                  <a:srgbClr val="0F6E7A"/>
                </a:solidFill>
                <a:latin typeface="Calibri" pitchFamily="34" charset="0"/>
                <a:ea typeface="Calibri" pitchFamily="34" charset="-122"/>
                <a:cs typeface="Calibri" pitchFamily="34" charset="-120"/>
              </a:rPr>
              <a:t>LOOKING AHEAD · SPRINT 4</a:t>
            </a:r>
            <a:endParaRPr lang="en-US" sz="1150" dirty="0"/>
          </a:p>
        </p:txBody>
      </p:sp>
      <p:sp>
        <p:nvSpPr>
          <p:cNvPr id="5" name="Text 3"/>
          <p:cNvSpPr/>
          <p:nvPr/>
        </p:nvSpPr>
        <p:spPr>
          <a:xfrm>
            <a:off x="502920" y="658368"/>
            <a:ext cx="10789920" cy="685800"/>
          </a:xfrm>
          <a:prstGeom prst="rect">
            <a:avLst/>
          </a:prstGeom>
          <a:noFill/>
          <a:ln/>
        </p:spPr>
        <p:txBody>
          <a:bodyPr wrap="square" lIns="0" tIns="0" rIns="0" bIns="0" rtlCol="0" anchor="ctr"/>
          <a:lstStyle/>
          <a:p>
            <a:pPr marL="0" indent="0">
              <a:buNone/>
            </a:pPr>
            <a:r>
              <a:rPr lang="en-US" sz="2800" b="1" dirty="0">
                <a:solidFill>
                  <a:srgbClr val="1C2B2D"/>
                </a:solidFill>
                <a:latin typeface="Cambria" pitchFamily="34" charset="0"/>
                <a:ea typeface="Cambria" pitchFamily="34" charset="-122"/>
                <a:cs typeface="Cambria" pitchFamily="34" charset="-120"/>
              </a:rPr>
              <a:t>Next Sprint: Aug 4 – 10, 2026</a:t>
            </a:r>
            <a:endParaRPr lang="en-US" sz="2800" dirty="0"/>
          </a:p>
        </p:txBody>
      </p:sp>
      <p:sp>
        <p:nvSpPr>
          <p:cNvPr id="6" name="Shape 4"/>
          <p:cNvSpPr/>
          <p:nvPr/>
        </p:nvSpPr>
        <p:spPr>
          <a:xfrm>
            <a:off x="502920" y="1554480"/>
            <a:ext cx="11155680" cy="1051560"/>
          </a:xfrm>
          <a:prstGeom prst="roundRect">
            <a:avLst>
              <a:gd name="adj" fmla="val 8696"/>
            </a:avLst>
          </a:prstGeom>
          <a:solidFill>
            <a:srgbClr val="0B3D45"/>
          </a:solidFill>
          <a:ln w="12700">
            <a:solidFill>
              <a:srgbClr val="0B3D45"/>
            </a:solidFill>
            <a:prstDash val="solid"/>
          </a:ln>
        </p:spPr>
      </p:sp>
      <p:sp>
        <p:nvSpPr>
          <p:cNvPr id="7" name="Text 5"/>
          <p:cNvSpPr/>
          <p:nvPr/>
        </p:nvSpPr>
        <p:spPr>
          <a:xfrm>
            <a:off x="777240" y="1673352"/>
            <a:ext cx="3657600" cy="274320"/>
          </a:xfrm>
          <a:prstGeom prst="rect">
            <a:avLst/>
          </a:prstGeom>
          <a:noFill/>
          <a:ln/>
        </p:spPr>
        <p:txBody>
          <a:bodyPr wrap="square" lIns="0" tIns="0" rIns="0" bIns="0" rtlCol="0" anchor="ctr"/>
          <a:lstStyle/>
          <a:p>
            <a:pPr marL="0" indent="0">
              <a:buNone/>
            </a:pPr>
            <a:r>
              <a:rPr lang="en-US" sz="950" b="1" kern="0" spc="150" dirty="0">
                <a:solidFill>
                  <a:srgbClr val="E8A33D"/>
                </a:solidFill>
                <a:latin typeface="Calibri" pitchFamily="34" charset="0"/>
                <a:ea typeface="Calibri" pitchFamily="34" charset="-122"/>
                <a:cs typeface="Calibri" pitchFamily="34" charset="-120"/>
              </a:rPr>
              <a:t>SPRINT 4 OBJECTIVE</a:t>
            </a:r>
            <a:endParaRPr lang="en-US" sz="950" dirty="0"/>
          </a:p>
        </p:txBody>
      </p:sp>
      <p:sp>
        <p:nvSpPr>
          <p:cNvPr id="8" name="Text 6"/>
          <p:cNvSpPr/>
          <p:nvPr/>
        </p:nvSpPr>
        <p:spPr>
          <a:xfrm>
            <a:off x="777240" y="1947672"/>
            <a:ext cx="10607040" cy="548640"/>
          </a:xfrm>
          <a:prstGeom prst="rect">
            <a:avLst/>
          </a:prstGeom>
          <a:noFill/>
          <a:ln/>
        </p:spPr>
        <p:txBody>
          <a:bodyPr wrap="square" lIns="0" tIns="0" rIns="0" bIns="0" rtlCol="0" anchor="ctr"/>
          <a:lstStyle/>
          <a:p>
            <a:pPr marL="0" indent="0">
              <a:lnSpc>
                <a:spcPct val="115000"/>
              </a:lnSpc>
              <a:buNone/>
            </a:pPr>
            <a:r>
              <a:rPr lang="en-US" sz="1500" i="1" dirty="0">
                <a:solidFill>
                  <a:srgbClr val="FFFFFF"/>
                </a:solidFill>
                <a:latin typeface="Calibri" pitchFamily="34" charset="0"/>
                <a:ea typeface="Calibri" pitchFamily="34" charset="-122"/>
                <a:cs typeface="Calibri" pitchFamily="34" charset="-120"/>
              </a:rPr>
              <a:t>Connecting the frontend with the backend and the database.</a:t>
            </a:r>
            <a:endParaRPr lang="en-US" sz="1500" dirty="0"/>
          </a:p>
        </p:txBody>
      </p:sp>
      <p:sp>
        <p:nvSpPr>
          <p:cNvPr id="9" name="Text 7"/>
          <p:cNvSpPr/>
          <p:nvPr/>
        </p:nvSpPr>
        <p:spPr>
          <a:xfrm>
            <a:off x="502920" y="2880360"/>
            <a:ext cx="5486400" cy="274320"/>
          </a:xfrm>
          <a:prstGeom prst="rect">
            <a:avLst/>
          </a:prstGeom>
          <a:noFill/>
          <a:ln/>
        </p:spPr>
        <p:txBody>
          <a:bodyPr wrap="square" lIns="0" tIns="0" rIns="0" bIns="0" rtlCol="0" anchor="ctr"/>
          <a:lstStyle/>
          <a:p>
            <a:pPr marL="0" indent="0">
              <a:buNone/>
            </a:pPr>
            <a:r>
              <a:rPr lang="en-US" sz="1100" b="1" kern="0" spc="150" dirty="0">
                <a:solidFill>
                  <a:srgbClr val="0F6E7A"/>
                </a:solidFill>
                <a:latin typeface="Calibri" pitchFamily="34" charset="0"/>
                <a:ea typeface="Calibri" pitchFamily="34" charset="-122"/>
                <a:cs typeface="Calibri" pitchFamily="34" charset="-120"/>
              </a:rPr>
              <a:t>DELIVERABLE &amp; META</a:t>
            </a:r>
            <a:endParaRPr lang="en-US" sz="1100" dirty="0"/>
          </a:p>
        </p:txBody>
      </p:sp>
      <p:sp>
        <p:nvSpPr>
          <p:cNvPr id="10" name="Text 8"/>
          <p:cNvSpPr/>
          <p:nvPr/>
        </p:nvSpPr>
        <p:spPr>
          <a:xfrm>
            <a:off x="502920" y="3200400"/>
            <a:ext cx="6309360" cy="1737360"/>
          </a:xfrm>
          <a:prstGeom prst="rect">
            <a:avLst/>
          </a:prstGeom>
          <a:noFill/>
          <a:ln/>
        </p:spPr>
        <p:txBody>
          <a:bodyPr wrap="square" lIns="0" tIns="0" rIns="0" bIns="0" rtlCol="0" anchor="t"/>
          <a:lstStyle/>
          <a:p>
            <a:pPr marL="0" indent="0">
              <a:lnSpc>
                <a:spcPct val="125000"/>
              </a:lnSpc>
              <a:buNone/>
            </a:pPr>
            <a:r>
              <a:rPr lang="en-US" sz="1250" b="1" dirty="0">
                <a:solidFill>
                  <a:srgbClr val="1C2B2D"/>
                </a:solidFill>
                <a:latin typeface="Calibri" pitchFamily="34" charset="0"/>
                <a:ea typeface="Calibri" pitchFamily="34" charset="-122"/>
                <a:cs typeface="Calibri" pitchFamily="34" charset="-120"/>
              </a:rPr>
              <a:t>Key Deliverable: </a:t>
            </a:r>
            <a:r>
              <a:rPr lang="en-US" sz="1250" dirty="0">
                <a:solidFill>
                  <a:srgbClr val="5C6B6D"/>
                </a:solidFill>
                <a:latin typeface="Calibri" pitchFamily="34" charset="0"/>
                <a:ea typeface="Calibri" pitchFamily="34" charset="-122"/>
                <a:cs typeface="Calibri" pitchFamily="34" charset="-120"/>
              </a:rPr>
              <a:t>A fully functional website with AI/ML microservice integration in the backend, backed by a proper database</a:t>
            </a:r>
            <a:endParaRPr lang="en-US" sz="1250" dirty="0"/>
          </a:p>
          <a:p>
            <a:pPr marL="0" indent="0">
              <a:lnSpc>
                <a:spcPct val="125000"/>
              </a:lnSpc>
              <a:buNone/>
            </a:pPr>
            <a:r>
              <a:rPr lang="en-US" sz="1250" b="1" dirty="0">
                <a:solidFill>
                  <a:srgbClr val="1C2B2D"/>
                </a:solidFill>
                <a:latin typeface="Calibri" pitchFamily="34" charset="0"/>
                <a:ea typeface="Calibri" pitchFamily="34" charset="-122"/>
                <a:cs typeface="Calibri" pitchFamily="34" charset="-120"/>
              </a:rPr>
              <a:t>Contributors: </a:t>
            </a:r>
            <a:r>
              <a:rPr lang="en-US" sz="1250" dirty="0">
                <a:solidFill>
                  <a:srgbClr val="5C6B6D"/>
                </a:solidFill>
                <a:latin typeface="Calibri" pitchFamily="34" charset="0"/>
                <a:ea typeface="Calibri" pitchFamily="34" charset="-122"/>
                <a:cs typeface="Calibri" pitchFamily="34" charset="-120"/>
              </a:rPr>
              <a:t>Jihanur Rahman Ratul &amp; Tahsin Ahmed Sufol</a:t>
            </a:r>
            <a:endParaRPr lang="en-US" sz="1250" dirty="0"/>
          </a:p>
          <a:p>
            <a:pPr marL="0" indent="0">
              <a:lnSpc>
                <a:spcPct val="125000"/>
              </a:lnSpc>
              <a:buNone/>
            </a:pPr>
            <a:r>
              <a:rPr lang="en-US" sz="1250" b="1" dirty="0">
                <a:solidFill>
                  <a:srgbClr val="1C2B2D"/>
                </a:solidFill>
                <a:latin typeface="Calibri" pitchFamily="34" charset="0"/>
                <a:ea typeface="Calibri" pitchFamily="34" charset="-122"/>
                <a:cs typeface="Calibri" pitchFamily="34" charset="-120"/>
              </a:rPr>
              <a:t>Deadline: </a:t>
            </a:r>
            <a:r>
              <a:rPr lang="en-US" sz="1250" dirty="0">
                <a:solidFill>
                  <a:srgbClr val="5C6B6D"/>
                </a:solidFill>
                <a:latin typeface="Calibri" pitchFamily="34" charset="0"/>
                <a:ea typeface="Calibri" pitchFamily="34" charset="-122"/>
                <a:cs typeface="Calibri" pitchFamily="34" charset="-120"/>
              </a:rPr>
              <a:t>August 10, 2026</a:t>
            </a:r>
            <a:endParaRPr lang="en-US" sz="1250" dirty="0"/>
          </a:p>
        </p:txBody>
      </p:sp>
      <p:sp>
        <p:nvSpPr>
          <p:cNvPr id="11" name="Shape 9"/>
          <p:cNvSpPr/>
          <p:nvPr/>
        </p:nvSpPr>
        <p:spPr>
          <a:xfrm>
            <a:off x="502920" y="4892040"/>
            <a:ext cx="1426464" cy="256032"/>
          </a:xfrm>
          <a:prstGeom prst="roundRect">
            <a:avLst>
              <a:gd name="adj" fmla="val 21429"/>
            </a:avLst>
          </a:prstGeom>
          <a:solidFill>
            <a:srgbClr val="FBE6E8"/>
          </a:solidFill>
          <a:ln w="9525">
            <a:solidFill>
              <a:srgbClr val="D64550"/>
            </a:solidFill>
            <a:prstDash val="solid"/>
          </a:ln>
        </p:spPr>
      </p:sp>
      <p:sp>
        <p:nvSpPr>
          <p:cNvPr id="12" name="Text 10"/>
          <p:cNvSpPr/>
          <p:nvPr/>
        </p:nvSpPr>
        <p:spPr>
          <a:xfrm>
            <a:off x="502920" y="4892040"/>
            <a:ext cx="1426464" cy="256032"/>
          </a:xfrm>
          <a:prstGeom prst="rect">
            <a:avLst/>
          </a:prstGeom>
          <a:noFill/>
          <a:ln/>
        </p:spPr>
        <p:txBody>
          <a:bodyPr wrap="square" lIns="0" tIns="0" rIns="0" bIns="0" rtlCol="0" anchor="ctr"/>
          <a:lstStyle/>
          <a:p>
            <a:pPr marL="0" indent="0" algn="ctr">
              <a:buNone/>
            </a:pPr>
            <a:r>
              <a:rPr lang="en-US" sz="900" b="1" dirty="0">
                <a:solidFill>
                  <a:srgbClr val="D64550"/>
                </a:solidFill>
                <a:latin typeface="Calibri" pitchFamily="34" charset="0"/>
                <a:ea typeface="Calibri" pitchFamily="34" charset="-122"/>
                <a:cs typeface="Calibri" pitchFamily="34" charset="-120"/>
              </a:rPr>
              <a:t>Priority: High</a:t>
            </a:r>
            <a:endParaRPr lang="en-US" sz="900" dirty="0"/>
          </a:p>
        </p:txBody>
      </p:sp>
      <p:sp>
        <p:nvSpPr>
          <p:cNvPr id="13" name="Shape 11"/>
          <p:cNvSpPr/>
          <p:nvPr/>
        </p:nvSpPr>
        <p:spPr>
          <a:xfrm>
            <a:off x="2066544" y="4892040"/>
            <a:ext cx="1591056" cy="256032"/>
          </a:xfrm>
          <a:prstGeom prst="roundRect">
            <a:avLst>
              <a:gd name="adj" fmla="val 21429"/>
            </a:avLst>
          </a:prstGeom>
          <a:solidFill>
            <a:srgbClr val="E8F3F4"/>
          </a:solidFill>
          <a:ln w="9525">
            <a:solidFill>
              <a:srgbClr val="0F6E7A"/>
            </a:solidFill>
            <a:prstDash val="solid"/>
          </a:ln>
        </p:spPr>
      </p:sp>
      <p:sp>
        <p:nvSpPr>
          <p:cNvPr id="14" name="Text 12"/>
          <p:cNvSpPr/>
          <p:nvPr/>
        </p:nvSpPr>
        <p:spPr>
          <a:xfrm>
            <a:off x="2066544" y="4892040"/>
            <a:ext cx="1591056" cy="256032"/>
          </a:xfrm>
          <a:prstGeom prst="rect">
            <a:avLst/>
          </a:prstGeom>
          <a:noFill/>
          <a:ln/>
        </p:spPr>
        <p:txBody>
          <a:bodyPr wrap="square" lIns="0" tIns="0" rIns="0" bIns="0" rtlCol="0" anchor="ctr"/>
          <a:lstStyle/>
          <a:p>
            <a:pPr marL="0" indent="0" algn="ctr">
              <a:buNone/>
            </a:pPr>
            <a:r>
              <a:rPr lang="en-US" sz="900" b="1" dirty="0">
                <a:solidFill>
                  <a:srgbClr val="0F6E7A"/>
                </a:solidFill>
                <a:latin typeface="Calibri" pitchFamily="34" charset="0"/>
                <a:ea typeface="Calibri" pitchFamily="34" charset="-122"/>
                <a:cs typeface="Calibri" pitchFamily="34" charset="-120"/>
              </a:rPr>
              <a:t>Duration: 1 week</a:t>
            </a:r>
            <a:endParaRPr lang="en-US" sz="900" dirty="0"/>
          </a:p>
        </p:txBody>
      </p:sp>
      <p:sp>
        <p:nvSpPr>
          <p:cNvPr id="15" name="Shape 13"/>
          <p:cNvSpPr/>
          <p:nvPr/>
        </p:nvSpPr>
        <p:spPr>
          <a:xfrm>
            <a:off x="3794760" y="4892040"/>
            <a:ext cx="2249424" cy="256032"/>
          </a:xfrm>
          <a:prstGeom prst="roundRect">
            <a:avLst>
              <a:gd name="adj" fmla="val 21429"/>
            </a:avLst>
          </a:prstGeom>
          <a:solidFill>
            <a:srgbClr val="E8F3F4"/>
          </a:solidFill>
          <a:ln w="9525">
            <a:solidFill>
              <a:srgbClr val="0F6E7A"/>
            </a:solidFill>
            <a:prstDash val="solid"/>
          </a:ln>
        </p:spPr>
      </p:sp>
      <p:sp>
        <p:nvSpPr>
          <p:cNvPr id="16" name="Text 14"/>
          <p:cNvSpPr/>
          <p:nvPr/>
        </p:nvSpPr>
        <p:spPr>
          <a:xfrm>
            <a:off x="3794760" y="4892040"/>
            <a:ext cx="2249424" cy="256032"/>
          </a:xfrm>
          <a:prstGeom prst="rect">
            <a:avLst/>
          </a:prstGeom>
          <a:noFill/>
          <a:ln/>
        </p:spPr>
        <p:txBody>
          <a:bodyPr wrap="square" lIns="0" tIns="0" rIns="0" bIns="0" rtlCol="0" anchor="ctr"/>
          <a:lstStyle/>
          <a:p>
            <a:pPr marL="0" indent="0" algn="ctr">
              <a:buNone/>
            </a:pPr>
            <a:r>
              <a:rPr lang="en-US" sz="900" b="1" dirty="0">
                <a:solidFill>
                  <a:srgbClr val="0F6E7A"/>
                </a:solidFill>
                <a:latin typeface="Calibri" pitchFamily="34" charset="0"/>
                <a:ea typeface="Calibri" pitchFamily="34" charset="-122"/>
                <a:cs typeface="Calibri" pitchFamily="34" charset="-120"/>
              </a:rPr>
              <a:t>Tags: Database / Backend</a:t>
            </a:r>
            <a:endParaRPr lang="en-US" sz="900" dirty="0"/>
          </a:p>
        </p:txBody>
      </p:sp>
      <p:sp>
        <p:nvSpPr>
          <p:cNvPr id="17" name="Shape 15"/>
          <p:cNvSpPr/>
          <p:nvPr/>
        </p:nvSpPr>
        <p:spPr>
          <a:xfrm>
            <a:off x="7178040" y="2880360"/>
            <a:ext cx="4480560" cy="3246120"/>
          </a:xfrm>
          <a:prstGeom prst="roundRect">
            <a:avLst>
              <a:gd name="adj" fmla="val 2817"/>
            </a:avLst>
          </a:prstGeom>
          <a:solidFill>
            <a:srgbClr val="FCF1DD"/>
          </a:solidFill>
          <a:ln w="12700">
            <a:solidFill>
              <a:srgbClr val="FCF1DD"/>
            </a:solidFill>
            <a:prstDash val="solid"/>
          </a:ln>
          <a:effectLst>
            <a:outerShdw blurRad="88900" dist="25400" dir="5400000" algn="bl" rotWithShape="0">
              <a:srgbClr val="1C2B2D">
                <a:alpha val="10000"/>
              </a:srgbClr>
            </a:outerShdw>
          </a:effectLst>
        </p:spPr>
      </p:sp>
      <p:sp>
        <p:nvSpPr>
          <p:cNvPr id="18" name="Shape 16"/>
          <p:cNvSpPr/>
          <p:nvPr/>
        </p:nvSpPr>
        <p:spPr>
          <a:xfrm>
            <a:off x="7415784" y="3108960"/>
            <a:ext cx="502920" cy="502920"/>
          </a:xfrm>
          <a:prstGeom prst="ellipse">
            <a:avLst/>
          </a:prstGeom>
          <a:solidFill>
            <a:srgbClr val="E8A33D"/>
          </a:solidFill>
          <a:ln/>
        </p:spPr>
      </p:sp>
      <p:pic>
        <p:nvPicPr>
          <p:cNvPr id="19" name="Image 0" descr="/home/claude/sprint3/icons/warning.png"/>
          <p:cNvPicPr>
            <a:picLocks noChangeAspect="1"/>
          </p:cNvPicPr>
          <p:nvPr/>
        </p:nvPicPr>
        <p:blipFill>
          <a:blip r:embed="rId3"/>
          <a:stretch>
            <a:fillRect/>
          </a:stretch>
        </p:blipFill>
        <p:spPr>
          <a:xfrm>
            <a:off x="7536485" y="3229661"/>
            <a:ext cx="261518" cy="261518"/>
          </a:xfrm>
          <a:prstGeom prst="rect">
            <a:avLst/>
          </a:prstGeom>
        </p:spPr>
      </p:pic>
      <p:sp>
        <p:nvSpPr>
          <p:cNvPr id="20" name="Text 17"/>
          <p:cNvSpPr/>
          <p:nvPr/>
        </p:nvSpPr>
        <p:spPr>
          <a:xfrm>
            <a:off x="8046720" y="3182112"/>
            <a:ext cx="3383280" cy="365760"/>
          </a:xfrm>
          <a:prstGeom prst="rect">
            <a:avLst/>
          </a:prstGeom>
          <a:noFill/>
          <a:ln/>
        </p:spPr>
        <p:txBody>
          <a:bodyPr wrap="square" lIns="0" tIns="0" rIns="0" bIns="0" rtlCol="0" anchor="ctr"/>
          <a:lstStyle/>
          <a:p>
            <a:pPr marL="0" indent="0">
              <a:buNone/>
            </a:pPr>
            <a:r>
              <a:rPr lang="en-US" sz="1250" b="1" dirty="0">
                <a:solidFill>
                  <a:srgbClr val="1C2B2D"/>
                </a:solidFill>
                <a:latin typeface="Calibri" pitchFamily="34" charset="0"/>
                <a:ea typeface="Calibri" pitchFamily="34" charset="-122"/>
                <a:cs typeface="Calibri" pitchFamily="34" charset="-120"/>
              </a:rPr>
              <a:t>STATUS: 30% — IN PROGRESS</a:t>
            </a:r>
            <a:endParaRPr lang="en-US" sz="1250" dirty="0"/>
          </a:p>
        </p:txBody>
      </p:sp>
      <p:sp>
        <p:nvSpPr>
          <p:cNvPr id="21" name="Text 18"/>
          <p:cNvSpPr/>
          <p:nvPr/>
        </p:nvSpPr>
        <p:spPr>
          <a:xfrm>
            <a:off x="7434072" y="3749040"/>
            <a:ext cx="3968496" cy="2194560"/>
          </a:xfrm>
          <a:prstGeom prst="rect">
            <a:avLst/>
          </a:prstGeom>
          <a:noFill/>
          <a:ln/>
        </p:spPr>
        <p:txBody>
          <a:bodyPr wrap="square" lIns="0" tIns="0" rIns="0" bIns="0" rtlCol="0" anchor="t"/>
          <a:lstStyle/>
          <a:p>
            <a:pPr marL="0" indent="0">
              <a:lnSpc>
                <a:spcPct val="128000"/>
              </a:lnSpc>
              <a:buNone/>
            </a:pPr>
            <a:r>
              <a:rPr lang="en-US" sz="1130" dirty="0">
                <a:solidFill>
                  <a:srgbClr val="5C6B6D"/>
                </a:solidFill>
                <a:latin typeface="Calibri" pitchFamily="34" charset="0"/>
                <a:ea typeface="Calibri" pitchFamily="34" charset="-122"/>
                <a:cs typeface="Calibri" pitchFamily="34" charset="-120"/>
              </a:rPr>
              <a:t>Sprint 4 started a little late — midterms cramped the schedule right at the sprint boundary, per this week’s own retrospective note. Priority is now High to recover the lost days, and both members are syncing daily until the backend catches up.</a:t>
            </a:r>
            <a:endParaRPr lang="en-US" sz="11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D45"/>
        </a:solidFill>
        <a:effectLst/>
      </p:bgPr>
    </p:bg>
    <p:spTree>
      <p:nvGrpSpPr>
        <p:cNvPr id="1" name=""/>
        <p:cNvGrpSpPr/>
        <p:nvPr/>
      </p:nvGrpSpPr>
      <p:grpSpPr>
        <a:xfrm>
          <a:off x="0" y="0"/>
          <a:ext cx="0" cy="0"/>
          <a:chOff x="0" y="0"/>
          <a:chExt cx="0" cy="0"/>
        </a:xfrm>
      </p:grpSpPr>
      <p:sp>
        <p:nvSpPr>
          <p:cNvPr id="2" name="Shape 0"/>
          <p:cNvSpPr/>
          <p:nvPr/>
        </p:nvSpPr>
        <p:spPr>
          <a:xfrm>
            <a:off x="10607040" y="457200"/>
            <a:ext cx="2011680" cy="2011680"/>
          </a:xfrm>
          <a:prstGeom prst="ellipse">
            <a:avLst/>
          </a:prstGeom>
          <a:solidFill>
            <a:srgbClr val="0F6E7A">
              <a:alpha val="22000"/>
            </a:srgbClr>
          </a:solidFill>
          <a:ln/>
        </p:spPr>
      </p:sp>
      <p:sp>
        <p:nvSpPr>
          <p:cNvPr id="3" name="Shape 1"/>
          <p:cNvSpPr/>
          <p:nvPr/>
        </p:nvSpPr>
        <p:spPr>
          <a:xfrm>
            <a:off x="-457200" y="4389120"/>
            <a:ext cx="2377440" cy="2377440"/>
          </a:xfrm>
          <a:prstGeom prst="ellipse">
            <a:avLst/>
          </a:prstGeom>
          <a:solidFill>
            <a:srgbClr val="0F6E7A">
              <a:alpha val="22000"/>
            </a:srgbClr>
          </a:solidFill>
          <a:ln/>
        </p:spPr>
      </p:sp>
      <p:sp>
        <p:nvSpPr>
          <p:cNvPr id="4" name="Shape 2"/>
          <p:cNvSpPr/>
          <p:nvPr/>
        </p:nvSpPr>
        <p:spPr>
          <a:xfrm>
            <a:off x="1097280" y="365760"/>
            <a:ext cx="731520" cy="731520"/>
          </a:xfrm>
          <a:prstGeom prst="ellipse">
            <a:avLst/>
          </a:prstGeom>
          <a:solidFill>
            <a:srgbClr val="0F6E7A">
              <a:alpha val="22000"/>
            </a:srgbClr>
          </a:solidFill>
          <a:ln/>
        </p:spPr>
      </p:sp>
      <p:sp>
        <p:nvSpPr>
          <p:cNvPr id="5" name="Shape 3"/>
          <p:cNvSpPr/>
          <p:nvPr/>
        </p:nvSpPr>
        <p:spPr>
          <a:xfrm>
            <a:off x="11155680" y="4572000"/>
            <a:ext cx="1005840" cy="1005840"/>
          </a:xfrm>
          <a:prstGeom prst="ellipse">
            <a:avLst/>
          </a:prstGeom>
          <a:solidFill>
            <a:srgbClr val="0F6E7A">
              <a:alpha val="22000"/>
            </a:srgbClr>
          </a:solidFill>
          <a:ln/>
        </p:spPr>
      </p:sp>
      <p:sp>
        <p:nvSpPr>
          <p:cNvPr id="6" name="Shape 4"/>
          <p:cNvSpPr/>
          <p:nvPr/>
        </p:nvSpPr>
        <p:spPr>
          <a:xfrm>
            <a:off x="5592928" y="1234440"/>
            <a:ext cx="1005840" cy="1005840"/>
          </a:xfrm>
          <a:prstGeom prst="ellipse">
            <a:avLst/>
          </a:prstGeom>
          <a:solidFill>
            <a:srgbClr val="E8A33D"/>
          </a:solidFill>
          <a:ln/>
        </p:spPr>
      </p:sp>
      <p:pic>
        <p:nvPicPr>
          <p:cNvPr id="7" name="Image 0" descr="/home/claude/sprint3/icons/handshake.png"/>
          <p:cNvPicPr>
            <a:picLocks noChangeAspect="1"/>
          </p:cNvPicPr>
          <p:nvPr/>
        </p:nvPicPr>
        <p:blipFill>
          <a:blip r:embed="rId3"/>
          <a:stretch>
            <a:fillRect/>
          </a:stretch>
        </p:blipFill>
        <p:spPr>
          <a:xfrm>
            <a:off x="5844388" y="1485900"/>
            <a:ext cx="502920" cy="502920"/>
          </a:xfrm>
          <a:prstGeom prst="rect">
            <a:avLst/>
          </a:prstGeom>
        </p:spPr>
      </p:pic>
      <p:sp>
        <p:nvSpPr>
          <p:cNvPr id="8" name="Text 5"/>
          <p:cNvSpPr/>
          <p:nvPr/>
        </p:nvSpPr>
        <p:spPr>
          <a:xfrm>
            <a:off x="0" y="2468880"/>
            <a:ext cx="12191695"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9" name="Text 6"/>
          <p:cNvSpPr/>
          <p:nvPr/>
        </p:nvSpPr>
        <p:spPr>
          <a:xfrm>
            <a:off x="0" y="3291840"/>
            <a:ext cx="12191695" cy="457200"/>
          </a:xfrm>
          <a:prstGeom prst="rect">
            <a:avLst/>
          </a:prstGeom>
          <a:noFill/>
          <a:ln/>
        </p:spPr>
        <p:txBody>
          <a:bodyPr wrap="square" lIns="0" tIns="0" rIns="0" bIns="0" rtlCol="0" anchor="ctr"/>
          <a:lstStyle/>
          <a:p>
            <a:pPr marL="0" indent="0" algn="ctr">
              <a:buNone/>
            </a:pPr>
            <a:r>
              <a:rPr lang="en-US" sz="1600" dirty="0">
                <a:solidFill>
                  <a:srgbClr val="B9D6D9"/>
                </a:solidFill>
                <a:latin typeface="Calibri" pitchFamily="34" charset="0"/>
                <a:ea typeface="Calibri" pitchFamily="34" charset="-122"/>
                <a:cs typeface="Calibri" pitchFamily="34" charset="-120"/>
              </a:rPr>
              <a:t>We welcome your feedback, ITN Sir</a:t>
            </a:r>
            <a:endParaRPr lang="en-US" sz="1600" dirty="0"/>
          </a:p>
        </p:txBody>
      </p:sp>
      <p:sp>
        <p:nvSpPr>
          <p:cNvPr id="10" name="Shape 7"/>
          <p:cNvSpPr/>
          <p:nvPr/>
        </p:nvSpPr>
        <p:spPr>
          <a:xfrm>
            <a:off x="2804008" y="3977640"/>
            <a:ext cx="6583680" cy="1417320"/>
          </a:xfrm>
          <a:prstGeom prst="roundRect">
            <a:avLst>
              <a:gd name="adj" fmla="val 6452"/>
            </a:avLst>
          </a:prstGeom>
          <a:solidFill>
            <a:srgbClr val="0E4C57"/>
          </a:solidFill>
          <a:ln w="12700">
            <a:solidFill>
              <a:srgbClr val="0F6E7A"/>
            </a:solidFill>
            <a:prstDash val="solid"/>
          </a:ln>
          <a:effectLst>
            <a:outerShdw blurRad="88900" dist="25400" dir="5400000" algn="bl" rotWithShape="0">
              <a:srgbClr val="1C2B2D">
                <a:alpha val="10000"/>
              </a:srgbClr>
            </a:outerShdw>
          </a:effectLst>
        </p:spPr>
      </p:sp>
      <p:sp>
        <p:nvSpPr>
          <p:cNvPr id="11" name="Text 8"/>
          <p:cNvSpPr/>
          <p:nvPr/>
        </p:nvSpPr>
        <p:spPr>
          <a:xfrm>
            <a:off x="3078328" y="4114800"/>
            <a:ext cx="6035040" cy="274320"/>
          </a:xfrm>
          <a:prstGeom prst="rect">
            <a:avLst/>
          </a:prstGeom>
          <a:noFill/>
          <a:ln/>
        </p:spPr>
        <p:txBody>
          <a:bodyPr wrap="square" lIns="0" tIns="0" rIns="0" bIns="0" rtlCol="0" anchor="ctr"/>
          <a:lstStyle/>
          <a:p>
            <a:pPr marL="0" indent="0" algn="ctr">
              <a:buNone/>
            </a:pPr>
            <a:r>
              <a:rPr lang="en-US" sz="950" b="1" kern="0" spc="150" dirty="0">
                <a:solidFill>
                  <a:srgbClr val="E8A33D"/>
                </a:solidFill>
                <a:latin typeface="Calibri" pitchFamily="34" charset="0"/>
                <a:ea typeface="Calibri" pitchFamily="34" charset="-122"/>
                <a:cs typeface="Calibri" pitchFamily="34" charset="-120"/>
              </a:rPr>
              <a:t>SCORING RUBRIC &amp; OPEN QUESTIONS</a:t>
            </a:r>
            <a:endParaRPr lang="en-US" sz="950" dirty="0"/>
          </a:p>
        </p:txBody>
      </p:sp>
      <p:sp>
        <p:nvSpPr>
          <p:cNvPr id="12" name="Text 9"/>
          <p:cNvSpPr/>
          <p:nvPr/>
        </p:nvSpPr>
        <p:spPr>
          <a:xfrm>
            <a:off x="3078328" y="4407408"/>
            <a:ext cx="6035040" cy="868680"/>
          </a:xfrm>
          <a:prstGeom prst="rect">
            <a:avLst/>
          </a:prstGeom>
          <a:noFill/>
          <a:ln/>
        </p:spPr>
        <p:txBody>
          <a:bodyPr wrap="square" lIns="0" tIns="0" rIns="0" bIns="0" rtlCol="0" anchor="t"/>
          <a:lstStyle/>
          <a:p>
            <a:pPr marL="0" indent="0" algn="ctr">
              <a:lnSpc>
                <a:spcPct val="125000"/>
              </a:lnSpc>
              <a:buNone/>
            </a:pPr>
            <a:r>
              <a:rPr lang="en-US" sz="1200" i="1" dirty="0">
                <a:solidFill>
                  <a:srgbClr val="FFFFFF"/>
                </a:solidFill>
                <a:latin typeface="Calibri" pitchFamily="34" charset="0"/>
                <a:ea typeface="Calibri" pitchFamily="34" charset="-122"/>
                <a:cs typeface="Calibri" pitchFamily="34" charset="-120"/>
              </a:rPr>
              <a:t>Is the frontend at the fidelity you’d expect before backend integration begins, and does our Sprint 4 scope look right for the time remaining?</a:t>
            </a:r>
            <a:endParaRPr lang="en-US" sz="1200" dirty="0"/>
          </a:p>
        </p:txBody>
      </p:sp>
      <p:sp>
        <p:nvSpPr>
          <p:cNvPr id="13" name="Text 10"/>
          <p:cNvSpPr/>
          <p:nvPr/>
        </p:nvSpPr>
        <p:spPr>
          <a:xfrm>
            <a:off x="0" y="5806440"/>
            <a:ext cx="12191695" cy="365760"/>
          </a:xfrm>
          <a:prstGeom prst="rect">
            <a:avLst/>
          </a:prstGeom>
          <a:noFill/>
          <a:ln/>
        </p:spPr>
        <p:txBody>
          <a:bodyPr wrap="square" lIns="0" tIns="0" rIns="0" bIns="0" rtlCol="0" anchor="ctr"/>
          <a:lstStyle/>
          <a:p>
            <a:pPr marL="0" indent="0" algn="ctr">
              <a:buNone/>
            </a:pPr>
            <a:r>
              <a:rPr lang="en-US" sz="1150" b="1" kern="0" spc="100" dirty="0">
                <a:solidFill>
                  <a:srgbClr val="E8A33D"/>
                </a:solidFill>
                <a:latin typeface="Calibri" pitchFamily="34" charset="0"/>
                <a:ea typeface="Calibri" pitchFamily="34" charset="-122"/>
                <a:cs typeface="Calibri" pitchFamily="34" charset="-120"/>
              </a:rPr>
              <a:t>CSE299  ·  North South University  ·  Section 10  ·  Team Nexus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1962</Words>
  <Application>Microsoft Office PowerPoint</Application>
  <PresentationFormat>Widescreen</PresentationFormat>
  <Paragraphs>225</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CareerSetu — Sprint 3 Weekly Project Review</dc:title>
  <dc:subject>PptxGenJS Presentation</dc:subject>
  <dc:creator>CareerSetu Team</dc:creator>
  <cp:lastModifiedBy>Dark Monarch</cp:lastModifiedBy>
  <cp:revision>2</cp:revision>
  <dcterms:created xsi:type="dcterms:W3CDTF">2026-08-09T13:22:12Z</dcterms:created>
  <dcterms:modified xsi:type="dcterms:W3CDTF">2026-08-09T13:29:26Z</dcterms:modified>
</cp:coreProperties>
</file>